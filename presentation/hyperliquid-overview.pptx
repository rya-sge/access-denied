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slideMasters/_rels/slideMaster1.xml.rels" ContentType="application/vnd.openxmlformats-package.relationships+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notesSlides/_rels/notesSlide9.xml.rels" ContentType="application/vnd.openxmlformats-package.relationships+xml"/>
  <Override PartName="/ppt/notesSlides/_rels/notesSlide6.xml.rels" ContentType="application/vnd.openxmlformats-package.relationships+xml"/>
  <Override PartName="/ppt/notesSlides/_rels/notesSlide8.xml.rels" ContentType="application/vnd.openxmlformats-package.relationships+xml"/>
  <Override PartName="/ppt/notesSlides/_rels/notesSlide2.xml.rels" ContentType="application/vnd.openxmlformats-package.relationships+xml"/>
  <Override PartName="/ppt/notesSlides/_rels/notesSlide7.xml.rels" ContentType="application/vnd.openxmlformats-package.relationships+xml"/>
  <Override PartName="/ppt/notesSlides/_rels/notesSlide1.xml.rels" ContentType="application/vnd.openxmlformats-package.relationships+xml"/>
  <Override PartName="/ppt/notesSlides/_rels/notesSlide12.xml.rels" ContentType="application/vnd.openxmlformats-package.relationships+xml"/>
  <Override PartName="/ppt/notesSlides/_rels/notesSlide5.xml.rels" ContentType="application/vnd.openxmlformats-package.relationships+xml"/>
  <Override PartName="/ppt/notesSlides/_rels/notesSlide11.xml.rels" ContentType="application/vnd.openxmlformats-package.relationships+xml"/>
  <Override PartName="/ppt/notesSlides/_rels/notesSlide4.xml.rels" ContentType="application/vnd.openxmlformats-package.relationships+xml"/>
  <Override PartName="/ppt/notesSlides/_rels/notesSlide10.xml.rels" ContentType="application/vnd.openxmlformats-package.relationships+xml"/>
  <Override PartName="/ppt/notesSlides/_rels/notesSlide3.xml.rels" ContentType="application/vnd.openxmlformats-package.relationship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10.xml" ContentType="application/vnd.openxmlformats-officedocument.presentationml.notesSlide+xml"/>
  <Override PartName="/ppt/notesSlides/notesSlide5.xml" ContentType="application/vnd.openxmlformats-officedocument.presentationml.notesSlide+xml"/>
  <Override PartName="/ppt/notesSlides/notesSlide11.xml" ContentType="application/vnd.openxmlformats-officedocument.presentationml.notesSlide+xml"/>
  <Override PartName="/ppt/notesSlides/notesSlide6.xml" ContentType="application/vnd.openxmlformats-officedocument.presentationml.notesSlide+xml"/>
  <Override PartName="/ppt/notesSlides/notesSlide12.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_rels/presentation.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10.xml" ContentType="application/vnd.openxmlformats-officedocument.presentationml.slideLayout+xml"/>
  <Override PartName="/ppt/slideLayouts/_rels/slideLayout12.xml.rels" ContentType="application/vnd.openxmlformats-package.relationships+xml"/>
  <Override PartName="/ppt/slideLayouts/_rels/slideLayout11.xml.rels" ContentType="application/vnd.openxmlformats-package.relationships+xml"/>
  <Override PartName="/ppt/slideLayouts/_rels/slideLayout9.xml.rels" ContentType="application/vnd.openxmlformats-package.relationships+xml"/>
  <Override PartName="/ppt/slideLayouts/_rels/slideLayout10.xml.rels" ContentType="application/vnd.openxmlformats-package.relationships+xml"/>
  <Override PartName="/ppt/slideLayouts/_rels/slideLayout8.xml.rels" ContentType="application/vnd.openxmlformats-package.relationships+xml"/>
  <Override PartName="/ppt/slideLayouts/_rels/slideLayout5.xml.rels" ContentType="application/vnd.openxmlformats-package.relationships+xml"/>
  <Override PartName="/ppt/slideLayouts/_rels/slideLayout7.xml.rels" ContentType="application/vnd.openxmlformats-package.relationships+xml"/>
  <Override PartName="/ppt/slideLayouts/_rels/slideLayout4.xml.rels" ContentType="application/vnd.openxmlformats-package.relationships+xml"/>
  <Override PartName="/ppt/slideLayouts/_rels/slideLayout6.xml.rels" ContentType="application/vnd.openxmlformats-package.relationships+xml"/>
  <Override PartName="/ppt/slideLayouts/_rels/slideLayout3.xml.rels" ContentType="application/vnd.openxmlformats-package.relationships+xml"/>
  <Override PartName="/ppt/slideLayouts/_rels/slideLayout2.xml.rels" ContentType="application/vnd.openxmlformats-package.relationships+xml"/>
  <Override PartName="/ppt/slideLayouts/_rels/slideLayout1.xml.rels" ContentType="application/vnd.openxmlformats-package.relationships+xml"/>
  <Override PartName="/ppt/slideLayouts/slideLayout9.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media/image1.png" ContentType="image/png"/>
  <Override PartName="/ppt/media/image2.png" ContentType="image/png"/>
  <Override PartName="/ppt/media/image3.png" ContentType="image/png"/>
  <Override PartName="/ppt/media/image4.png" ContentType="image/png"/>
  <Override PartName="/ppt/media/image5.png" ContentType="image/png"/>
  <Override PartName="/ppt/media/image6.png" ContentType="image/png"/>
  <Override PartName="/ppt/media/image7.png" ContentType="image/png"/>
  <Override PartName="/ppt/media/image8.png" ContentType="image/png"/>
  <Override PartName="/ppt/media/image9.png" ContentType="image/png"/>
  <Override PartName="/ppt/presProps.xml" ContentType="application/vnd.openxmlformats-officedocument.presentationml.presProps+xml"/>
  <Override PartName="/ppt/notesMasters/_rels/notesMaster1.xml.rels" ContentType="application/vnd.openxmlformats-package.relationships+xml"/>
  <Override PartName="/ppt/notesMasters/notesMaster1.xml" ContentType="application/vnd.openxmlformats-officedocument.presentationml.notesMaster+xml"/>
  <Override PartName="/ppt/slides/slide1.xml" ContentType="application/vnd.openxmlformats-officedocument.presentationml.slide+xml"/>
  <Override PartName="/ppt/slides/_rels/slide12.xml.rels" ContentType="application/vnd.openxmlformats-package.relationships+xml"/>
  <Override PartName="/ppt/slides/_rels/slide11.xml.rels" ContentType="application/vnd.openxmlformats-package.relationships+xml"/>
  <Override PartName="/ppt/slides/_rels/slide9.xml.rels" ContentType="application/vnd.openxmlformats-package.relationships+xml"/>
  <Override PartName="/ppt/slides/_rels/slide10.xml.rels" ContentType="application/vnd.openxmlformats-package.relationships+xml"/>
  <Override PartName="/ppt/slides/_rels/slide8.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3.xml.rels" ContentType="application/vnd.openxmlformats-package.relationships+xml"/>
  <Override PartName="/ppt/slides/_rels/slide5.xml.rels" ContentType="application/vnd.openxmlformats-package.relationships+xml"/>
  <Override PartName="/ppt/slides/_rels/slide2.xml.rels" ContentType="application/vnd.openxmlformats-package.relationships+xml"/>
  <Override PartName="/ppt/slides/_rels/slide4.xml.rels" ContentType="application/vnd.openxmlformats-package.relationships+xml"/>
  <Override PartName="/ppt/slides/_rels/slide1.xml.rels" ContentType="application/vnd.openxmlformats-package.relationships+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9.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Lst>
  <p:sldSz cx="10080625" cy="5670550"/>
  <p:notesSz cx="7559675" cy="10691813"/>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 name="PlaceHolder 1"/>
          <p:cNvSpPr>
            <a:spLocks noGrp="1"/>
          </p:cNvSpPr>
          <p:nvPr>
            <p:ph type="sldImg"/>
          </p:nvPr>
        </p:nvSpPr>
        <p:spPr>
          <a:xfrm>
            <a:off x="216000" y="812520"/>
            <a:ext cx="7127280" cy="4008960"/>
          </a:xfrm>
          <a:prstGeom prst="rect">
            <a:avLst/>
          </a:prstGeom>
          <a:noFill/>
          <a:ln w="0">
            <a:noFill/>
          </a:ln>
        </p:spPr>
        <p:txBody>
          <a:bodyPr lIns="0" rIns="0" tIns="0" bIns="0" anchor="ctr">
            <a:noAutofit/>
          </a:bodyPr>
          <a:p>
            <a:pPr algn="ctr">
              <a:buNone/>
            </a:pPr>
            <a:r>
              <a:rPr b="0" lang="en-US" sz="4400" spc="-1" strike="noStrike">
                <a:latin typeface="Arial"/>
              </a:rPr>
              <a:t>Click to move the slide</a:t>
            </a:r>
            <a:endParaRPr b="0" lang="en-US" sz="4400" spc="-1" strike="noStrike">
              <a:latin typeface="Arial"/>
            </a:endParaRPr>
          </a:p>
        </p:txBody>
      </p:sp>
      <p:sp>
        <p:nvSpPr>
          <p:cNvPr id="42"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r>
              <a:rPr b="0" lang="en-US" sz="2000" spc="-1" strike="noStrike">
                <a:latin typeface="Arial"/>
              </a:rPr>
              <a:t>Click to edit the notes format</a:t>
            </a:r>
            <a:endParaRPr b="0" lang="en-US" sz="2000" spc="-1" strike="noStrike">
              <a:latin typeface="Arial"/>
            </a:endParaRPr>
          </a:p>
        </p:txBody>
      </p:sp>
      <p:sp>
        <p:nvSpPr>
          <p:cNvPr id="43" name="PlaceHolder 3"/>
          <p:cNvSpPr>
            <a:spLocks noGrp="1"/>
          </p:cNvSpPr>
          <p:nvPr>
            <p:ph type="hdr"/>
          </p:nvPr>
        </p:nvSpPr>
        <p:spPr>
          <a:xfrm>
            <a:off x="0" y="0"/>
            <a:ext cx="3280680" cy="534240"/>
          </a:xfrm>
          <a:prstGeom prst="rect">
            <a:avLst/>
          </a:prstGeom>
          <a:noFill/>
          <a:ln w="0">
            <a:noFill/>
          </a:ln>
        </p:spPr>
        <p:txBody>
          <a:bodyPr lIns="0" rIns="0" tIns="0" bIns="0" anchor="t">
            <a:noAutofit/>
          </a:bodyPr>
          <a:p>
            <a:r>
              <a:rPr b="0" lang="en-US" sz="1400" spc="-1" strike="noStrike">
                <a:latin typeface="Times New Roman"/>
              </a:rPr>
              <a:t>&lt;header&gt;</a:t>
            </a:r>
            <a:endParaRPr b="0" lang="en-US" sz="1400" spc="-1" strike="noStrike">
              <a:latin typeface="Times New Roman"/>
            </a:endParaRPr>
          </a:p>
        </p:txBody>
      </p:sp>
      <p:sp>
        <p:nvSpPr>
          <p:cNvPr id="44" name="PlaceHolder 4"/>
          <p:cNvSpPr>
            <a:spLocks noGrp="1"/>
          </p:cNvSpPr>
          <p:nvPr>
            <p:ph type="dt" idx="4"/>
          </p:nvPr>
        </p:nvSpPr>
        <p:spPr>
          <a:xfrm>
            <a:off x="4278960" y="0"/>
            <a:ext cx="3280680" cy="534240"/>
          </a:xfrm>
          <a:prstGeom prst="rect">
            <a:avLst/>
          </a:prstGeom>
          <a:noFill/>
          <a:ln w="0">
            <a:noFill/>
          </a:ln>
        </p:spPr>
        <p:txBody>
          <a:bodyPr lIns="0" rIns="0" tIns="0" bIns="0" anchor="t">
            <a:noAutofit/>
          </a:bodyPr>
          <a:lstStyle>
            <a:lvl1pPr algn="r">
              <a:buNone/>
              <a:defRPr b="0" lang="en-US" sz="1400" spc="-1" strike="noStrike">
                <a:latin typeface="Times New Roman"/>
              </a:defRPr>
            </a:lvl1pPr>
          </a:lstStyle>
          <a:p>
            <a:pPr algn="r">
              <a:buNone/>
            </a:pPr>
            <a:r>
              <a:rPr b="0" lang="en-US" sz="1400" spc="-1" strike="noStrike">
                <a:latin typeface="Times New Roman"/>
              </a:rPr>
              <a:t>&lt;date/time&gt;</a:t>
            </a:r>
            <a:endParaRPr b="0" lang="en-US" sz="1400" spc="-1" strike="noStrike">
              <a:latin typeface="Times New Roman"/>
            </a:endParaRPr>
          </a:p>
        </p:txBody>
      </p:sp>
      <p:sp>
        <p:nvSpPr>
          <p:cNvPr id="45" name="PlaceHolder 5"/>
          <p:cNvSpPr>
            <a:spLocks noGrp="1"/>
          </p:cNvSpPr>
          <p:nvPr>
            <p:ph type="ftr" idx="5"/>
          </p:nvPr>
        </p:nvSpPr>
        <p:spPr>
          <a:xfrm>
            <a:off x="0" y="10157400"/>
            <a:ext cx="3280680" cy="534240"/>
          </a:xfrm>
          <a:prstGeom prst="rect">
            <a:avLst/>
          </a:prstGeom>
          <a:noFill/>
          <a:ln w="0">
            <a:noFill/>
          </a:ln>
        </p:spPr>
        <p:txBody>
          <a:bodyPr lIns="0" rIns="0" tIns="0" bIns="0" anchor="b">
            <a:noAutofit/>
          </a:bodyPr>
          <a:lstStyle>
            <a:lvl1pPr>
              <a:defRPr b="0" lang="en-US" sz="1400" spc="-1" strike="noStrike">
                <a:latin typeface="Times New Roman"/>
              </a:defRPr>
            </a:lvl1pPr>
          </a:lstStyle>
          <a:p>
            <a:r>
              <a:rPr b="0" lang="en-US" sz="1400" spc="-1" strike="noStrike">
                <a:latin typeface="Times New Roman"/>
              </a:rPr>
              <a:t>&lt;footer&gt;</a:t>
            </a:r>
            <a:endParaRPr b="0" lang="en-US" sz="1400" spc="-1" strike="noStrike">
              <a:latin typeface="Times New Roman"/>
            </a:endParaRPr>
          </a:p>
        </p:txBody>
      </p:sp>
      <p:sp>
        <p:nvSpPr>
          <p:cNvPr id="46" name="PlaceHolder 6"/>
          <p:cNvSpPr>
            <a:spLocks noGrp="1"/>
          </p:cNvSpPr>
          <p:nvPr>
            <p:ph type="sldNum" idx="6"/>
          </p:nvPr>
        </p:nvSpPr>
        <p:spPr>
          <a:xfrm>
            <a:off x="4278960" y="10157400"/>
            <a:ext cx="3280680" cy="534240"/>
          </a:xfrm>
          <a:prstGeom prst="rect">
            <a:avLst/>
          </a:prstGeom>
          <a:noFill/>
          <a:ln w="0">
            <a:noFill/>
          </a:ln>
        </p:spPr>
        <p:txBody>
          <a:bodyPr lIns="0" rIns="0" tIns="0" bIns="0" anchor="b">
            <a:noAutofit/>
          </a:bodyPr>
          <a:lstStyle>
            <a:lvl1pPr algn="r">
              <a:buNone/>
              <a:defRPr b="0" lang="en-US" sz="1400" spc="-1" strike="noStrike">
                <a:latin typeface="Times New Roman"/>
              </a:defRPr>
            </a:lvl1pPr>
          </a:lstStyle>
          <a:p>
            <a:pPr algn="r">
              <a:buNone/>
            </a:pPr>
            <a:fld id="{1589B1B8-0315-4B30-B9D8-105E82F66BC1}" type="slidenum">
              <a:rPr b="0" lang="en-US" sz="1400" spc="-1" strike="noStrike">
                <a:latin typeface="Times New Roman"/>
              </a:rPr>
              <a:t>&lt;number&gt;</a:t>
            </a:fld>
            <a:endParaRPr b="0" lang="en-US" sz="1400" spc="-1" strike="noStrike">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0" name="PlaceHolder 1"/>
          <p:cNvSpPr>
            <a:spLocks noGrp="1"/>
          </p:cNvSpPr>
          <p:nvPr>
            <p:ph type="sldImg"/>
          </p:nvPr>
        </p:nvSpPr>
        <p:spPr>
          <a:xfrm>
            <a:off x="216000" y="812520"/>
            <a:ext cx="7127280" cy="4008960"/>
          </a:xfrm>
          <a:prstGeom prst="rect">
            <a:avLst/>
          </a:prstGeom>
          <a:ln w="0">
            <a:noFill/>
          </a:ln>
        </p:spPr>
      </p:sp>
      <p:sp>
        <p:nvSpPr>
          <p:cNvPr id="81"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r>
              <a:rPr b="0" lang="en-US" sz="2000" spc="-1" strike="noStrike">
                <a:latin typeface="Arial"/>
              </a:rPr>
              <a:t>Source: The Hyperliquid Protocol - HyperCore, HyperEVM and Onchain Perpetual Mechanics (https://rya-sge.github.io/access-denied/2026/09/02/hyperliquid-protocol-architecture/) and the Hyperliquid documentation. Talk length: about 5 minutes.</a:t>
            </a:r>
            <a:endParaRPr b="0" lang="en-US" sz="2000" spc="-1" strike="noStrike">
              <a:latin typeface="Arial"/>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2" name="PlaceHolder 1"/>
          <p:cNvSpPr>
            <a:spLocks noGrp="1"/>
          </p:cNvSpPr>
          <p:nvPr>
            <p:ph type="sldImg"/>
          </p:nvPr>
        </p:nvSpPr>
        <p:spPr>
          <a:xfrm>
            <a:off x="216000" y="812520"/>
            <a:ext cx="7127280" cy="4008960"/>
          </a:xfrm>
          <a:prstGeom prst="rect">
            <a:avLst/>
          </a:prstGeom>
          <a:ln w="0">
            <a:noFill/>
          </a:ln>
        </p:spPr>
      </p:sp>
      <p:sp>
        <p:nvSpPr>
          <p:cNvPr id="83"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r>
              <a:rPr b="0" lang="en-US" sz="2000" spc="-1" strike="noStrike">
                <a:latin typeface="Arial"/>
              </a:rPr>
              <a:t>(25 s) Most people know Hyperliquid as a perp exchange. The design choice behind it is that the matching engine is not an app deployed on a chain. Every validator runs it.</a:t>
            </a:r>
            <a:endParaRPr b="0" lang="en-US" sz="2000" spc="-1" strike="noStrike">
              <a:latin typeface="Arial"/>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4" name="PlaceHolder 1"/>
          <p:cNvSpPr>
            <a:spLocks noGrp="1"/>
          </p:cNvSpPr>
          <p:nvPr>
            <p:ph type="sldImg"/>
          </p:nvPr>
        </p:nvSpPr>
        <p:spPr>
          <a:xfrm>
            <a:off x="216000" y="812520"/>
            <a:ext cx="7127280" cy="4008960"/>
          </a:xfrm>
          <a:prstGeom prst="rect">
            <a:avLst/>
          </a:prstGeom>
          <a:ln w="0">
            <a:noFill/>
          </a:ln>
        </p:spPr>
      </p:sp>
      <p:sp>
        <p:nvSpPr>
          <p:cNvPr id="85"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r>
              <a:rPr b="0" lang="en-US" sz="2000" spc="-1" strike="noStrike">
                <a:latin typeface="Arial"/>
              </a:rPr>
              <a:t>(30 s) For a co-located client, the median time from sending an order to a committed answer is 0.2 seconds. Mainnet handles about 200 000 orders per second, and the documentation says execution is the bottleneck, not consensus.</a:t>
            </a:r>
            <a:endParaRPr b="0" lang="en-US" sz="2000" spc="-1" strike="noStrike">
              <a:latin typeface="Arial"/>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6" name="PlaceHolder 1"/>
          <p:cNvSpPr>
            <a:spLocks noGrp="1"/>
          </p:cNvSpPr>
          <p:nvPr>
            <p:ph type="sldImg"/>
          </p:nvPr>
        </p:nvSpPr>
        <p:spPr>
          <a:xfrm>
            <a:off x="216000" y="812520"/>
            <a:ext cx="7127280" cy="4008960"/>
          </a:xfrm>
          <a:prstGeom prst="rect">
            <a:avLst/>
          </a:prstGeom>
          <a:ln w="0">
            <a:noFill/>
          </a:ln>
        </p:spPr>
      </p:sp>
      <p:sp>
        <p:nvSpPr>
          <p:cNvPr id="87"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r>
              <a:rPr b="0" lang="en-US" sz="2000" spc="-1" strike="noStrike">
                <a:latin typeface="Arial"/>
              </a:rPr>
              <a:t>(35 s) A market maker who cancels and a trader who hits the same quote in the same block: the cancel wins. That removes a form of front-running that a first-come, first-served block allows. Margin is checked when the order is placed, and again for the resting order at each match, because the price may have moved between the two.</a:t>
            </a:r>
            <a:endParaRPr b="0" lang="en-US" sz="2000" spc="-1" strike="noStrike">
              <a:latin typeface="Arial"/>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8" name="PlaceHolder 1"/>
          <p:cNvSpPr>
            <a:spLocks noGrp="1"/>
          </p:cNvSpPr>
          <p:nvPr>
            <p:ph type="sldImg"/>
          </p:nvPr>
        </p:nvSpPr>
        <p:spPr>
          <a:xfrm>
            <a:off x="216000" y="812520"/>
            <a:ext cx="7127280" cy="4008960"/>
          </a:xfrm>
          <a:prstGeom prst="rect">
            <a:avLst/>
          </a:prstGeom>
          <a:ln w="0">
            <a:noFill/>
          </a:ln>
        </p:spPr>
      </p:sp>
      <p:sp>
        <p:nvSpPr>
          <p:cNvPr id="89"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r>
              <a:rPr b="0" lang="en-US" sz="2000" spc="-1" strike="noStrike">
                <a:latin typeface="Arial"/>
              </a:rPr>
              <a:t>(30 s) One consequence: a position can be liquidated with no trade on Hyperliquid at that price, because the mark price also reads external markets. The oracle has its own deck if someone wants the details.</a:t>
            </a:r>
            <a:endParaRPr b="0" lang="en-US" sz="2000" spc="-1" strike="noStrike">
              <a:latin typeface="Arial"/>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0" name="PlaceHolder 1"/>
          <p:cNvSpPr>
            <a:spLocks noGrp="1"/>
          </p:cNvSpPr>
          <p:nvPr>
            <p:ph type="sldImg"/>
          </p:nvPr>
        </p:nvSpPr>
        <p:spPr>
          <a:xfrm>
            <a:off x="216000" y="812520"/>
            <a:ext cx="7127280" cy="4008960"/>
          </a:xfrm>
          <a:prstGeom prst="rect">
            <a:avLst/>
          </a:prstGeom>
          <a:ln w="0">
            <a:noFill/>
          </a:ln>
        </p:spPr>
      </p:sp>
      <p:sp>
        <p:nvSpPr>
          <p:cNvPr id="91"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r>
              <a:rPr b="0" lang="en-US" sz="2000" spc="-1" strike="noStrike">
                <a:latin typeface="Arial"/>
              </a:rPr>
              <a:t>(20 s) Maintenance margin is half the initial margin at maximum leverage, so between 1.25% and 16.7% depending on the asset. Most liquidations end at this step.</a:t>
            </a:r>
            <a:endParaRPr b="0" lang="en-US" sz="2000" spc="-1" strike="noStrike">
              <a:latin typeface="Arial"/>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2" name="PlaceHolder 1"/>
          <p:cNvSpPr>
            <a:spLocks noGrp="1"/>
          </p:cNvSpPr>
          <p:nvPr>
            <p:ph type="sldImg"/>
          </p:nvPr>
        </p:nvSpPr>
        <p:spPr>
          <a:xfrm>
            <a:off x="216000" y="812520"/>
            <a:ext cx="7127280" cy="4008960"/>
          </a:xfrm>
          <a:prstGeom prst="rect">
            <a:avLst/>
          </a:prstGeom>
          <a:ln w="0">
            <a:noFill/>
          </a:ln>
        </p:spPr>
      </p:sp>
      <p:sp>
        <p:nvSpPr>
          <p:cNvPr id="93"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r>
              <a:rPr b="0" lang="en-US" sz="2000" spc="-1" strike="noStrike">
                <a:latin typeface="Arial"/>
              </a:rPr>
              <a:t>(20 s) The trader does not get the maintenance margin back at step 2: HLP keeps it so that backstop liquidations are profitable on average.</a:t>
            </a:r>
            <a:endParaRPr b="0" lang="en-US" sz="2000" spc="-1" strike="noStrike">
              <a:latin typeface="Arial"/>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4" name="PlaceHolder 1"/>
          <p:cNvSpPr>
            <a:spLocks noGrp="1"/>
          </p:cNvSpPr>
          <p:nvPr>
            <p:ph type="sldImg"/>
          </p:nvPr>
        </p:nvSpPr>
        <p:spPr>
          <a:xfrm>
            <a:off x="216000" y="812520"/>
            <a:ext cx="7127280" cy="4008960"/>
          </a:xfrm>
          <a:prstGeom prst="rect">
            <a:avLst/>
          </a:prstGeom>
          <a:ln w="0">
            <a:noFill/>
          </a:ln>
        </p:spPr>
      </p:sp>
      <p:sp>
        <p:nvSpPr>
          <p:cNvPr id="95"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r>
              <a:rPr b="0" lang="en-US" sz="2000" spc="-1" strike="noStrike">
                <a:latin typeface="Arial"/>
              </a:rPr>
              <a:t>(30 s) This is how a lending protocol or a vault on the HyperEVM can trade on the order book and price its collateral with the same number the clearinghouse uses.</a:t>
            </a:r>
            <a:endParaRPr b="0" lang="en-US" sz="2000" spc="-1" strike="noStrike">
              <a:latin typeface="Arial"/>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6" name="PlaceHolder 1"/>
          <p:cNvSpPr>
            <a:spLocks noGrp="1"/>
          </p:cNvSpPr>
          <p:nvPr>
            <p:ph type="sldImg"/>
          </p:nvPr>
        </p:nvSpPr>
        <p:spPr>
          <a:xfrm>
            <a:off x="216000" y="812520"/>
            <a:ext cx="7127280" cy="4008960"/>
          </a:xfrm>
          <a:prstGeom prst="rect">
            <a:avLst/>
          </a:prstGeom>
          <a:ln w="0">
            <a:noFill/>
          </a:ln>
        </p:spPr>
      </p:sp>
      <p:sp>
        <p:nvSpPr>
          <p:cNvPr id="97"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r>
              <a:rPr b="0" lang="en-US" sz="2000" spc="-1" strike="noStrike">
                <a:latin typeface="Arial"/>
              </a:rPr>
              <a:t>(30 s) Green: spot tokens and their liquidity. Blue: new market types, perps and outcomes. HIP-2 attaches to a HIP-1 token at deployment, which is why those two are linked.</a:t>
            </a:r>
            <a:endParaRPr b="0" lang="en-US" sz="2000" spc="-1" strike="noStrike">
              <a:latin typeface="Arial"/>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8" name="PlaceHolder 1"/>
          <p:cNvSpPr>
            <a:spLocks noGrp="1"/>
          </p:cNvSpPr>
          <p:nvPr>
            <p:ph type="sldImg"/>
          </p:nvPr>
        </p:nvSpPr>
        <p:spPr>
          <a:xfrm>
            <a:off x="216000" y="812520"/>
            <a:ext cx="7127280" cy="4008960"/>
          </a:xfrm>
          <a:prstGeom prst="rect">
            <a:avLst/>
          </a:prstGeom>
          <a:ln w="0">
            <a:noFill/>
          </a:ln>
        </p:spPr>
      </p:sp>
      <p:sp>
        <p:nvSpPr>
          <p:cNvPr id="99"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r>
              <a:rPr b="0" lang="en-US" sz="2000" spc="-1" strike="noStrike">
                <a:latin typeface="Arial"/>
              </a:rPr>
              <a:t>(25 s) HLP is the vault from slide 6. Anyone can deposit into it, with a four-day lock-up after each deposit.</a:t>
            </a:r>
            <a:endParaRPr b="0" lang="en-US" sz="2000" spc="-1" strike="noStrike">
              <a:latin typeface="Arial"/>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0" name="PlaceHolder 1"/>
          <p:cNvSpPr>
            <a:spLocks noGrp="1"/>
          </p:cNvSpPr>
          <p:nvPr>
            <p:ph type="sldImg"/>
          </p:nvPr>
        </p:nvSpPr>
        <p:spPr>
          <a:xfrm>
            <a:off x="216000" y="812520"/>
            <a:ext cx="7127280" cy="4008960"/>
          </a:xfrm>
          <a:prstGeom prst="rect">
            <a:avLst/>
          </a:prstGeom>
          <a:ln w="0">
            <a:noFill/>
          </a:ln>
        </p:spPr>
      </p:sp>
      <p:sp>
        <p:nvSpPr>
          <p:cNvPr id="101"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r>
              <a:rPr b="0" lang="en-US" sz="2000" spc="-1" strike="noStrike">
                <a:latin typeface="Arial"/>
              </a:rPr>
              <a:t>(30 s) None of this is hidden; the documentation states each point. The trust model reduces to how HYPE stake is distributed across validators.</a:t>
            </a:r>
            <a:endParaRPr b="0" lang="en-US" sz="2000" spc="-1" strike="noStrike">
              <a:latin typeface="Arial"/>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2" name="PlaceHolder 1"/>
          <p:cNvSpPr>
            <a:spLocks noGrp="1"/>
          </p:cNvSpPr>
          <p:nvPr>
            <p:ph type="sldImg"/>
          </p:nvPr>
        </p:nvSpPr>
        <p:spPr>
          <a:xfrm>
            <a:off x="216000" y="812520"/>
            <a:ext cx="7127280" cy="4008960"/>
          </a:xfrm>
          <a:prstGeom prst="rect">
            <a:avLst/>
          </a:prstGeom>
          <a:ln w="0">
            <a:noFill/>
          </a:ln>
        </p:spPr>
      </p:sp>
      <p:sp>
        <p:nvSpPr>
          <p:cNvPr id="103"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r>
              <a:rPr b="0" lang="en-US" sz="2000" spc="-1" strike="noStrike">
                <a:latin typeface="Arial"/>
              </a:rPr>
              <a:t>(25 s) Back to the opening question. An exchange that is the chain gets a central-exchange order book with onchain settlement, and puts all its trust in the validator set.</a:t>
            </a:r>
            <a:endParaRPr b="0" lang="en-US" sz="2000" spc="-1" strike="noStrike">
              <a:latin typeface="Arial"/>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2"/>
          </p:nvPr>
        </p:nvSpPr>
        <p:spPr/>
        <p:txBody>
          <a:bodyPr/>
          <a:p>
            <a:r>
              <a:t>Footer</a:t>
            </a:r>
          </a:p>
        </p:txBody>
      </p:sp>
      <p:sp>
        <p:nvSpPr>
          <p:cNvPr id="3" name="PlaceHolder 2"/>
          <p:cNvSpPr>
            <a:spLocks noGrp="1"/>
          </p:cNvSpPr>
          <p:nvPr>
            <p:ph type="sldNum" idx="3"/>
          </p:nvPr>
        </p:nvSpPr>
        <p:spPr/>
        <p:txBody>
          <a:bodyPr/>
          <a:p>
            <a:fld id="{CAD0F377-4949-42AC-A133-C57EA99B3E28}" type="slidenum">
              <a:t>&lt;#&gt;</a:t>
            </a:fld>
          </a:p>
        </p:txBody>
      </p:sp>
      <p:sp>
        <p:nvSpPr>
          <p:cNvPr id="4" name="PlaceHolder 3"/>
          <p:cNvSpPr>
            <a:spLocks noGrp="1"/>
          </p:cNvSpPr>
          <p:nvPr>
            <p:ph type="dt" idx="1"/>
          </p:nvPr>
        </p:nvSpPr>
        <p:spPr/>
        <p:txBody>
          <a:bodyPr/>
          <a:p>
            <a:r>
              <a:rPr lang="en-US"/>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5" name="PlaceHolder 1"/>
          <p:cNvSpPr>
            <a:spLocks noGrp="1"/>
          </p:cNvSpPr>
          <p:nvPr>
            <p:ph type="title"/>
          </p:nvPr>
        </p:nvSpPr>
        <p:spPr>
          <a:xfrm>
            <a:off x="504000" y="226080"/>
            <a:ext cx="9071640" cy="94644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6" name="PlaceHolder 2"/>
          <p:cNvSpPr>
            <a:spLocks noGrp="1"/>
          </p:cNvSpPr>
          <p:nvPr>
            <p:ph type="subTitle"/>
          </p:nvPr>
        </p:nvSpPr>
        <p:spPr>
          <a:xfrm>
            <a:off x="504000" y="1326600"/>
            <a:ext cx="9071640" cy="328824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47CF2ECB-2E75-44E7-A81B-82C79EEFCA06}" type="slidenum">
              <a:t>&lt;#&gt;</a:t>
            </a:fld>
          </a:p>
        </p:txBody>
      </p:sp>
      <p:sp>
        <p:nvSpPr>
          <p:cNvPr id="6" name="PlaceHolder 5"/>
          <p:cNvSpPr>
            <a:spLocks noGrp="1"/>
          </p:cNvSpPr>
          <p:nvPr>
            <p:ph type="dt" idx="1"/>
          </p:nvPr>
        </p:nvSpPr>
        <p:spPr/>
        <p:txBody>
          <a:bodyPr/>
          <a:p>
            <a:r>
              <a:rPr lang="en-US"/>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7" name="PlaceHolder 1"/>
          <p:cNvSpPr>
            <a:spLocks noGrp="1"/>
          </p:cNvSpPr>
          <p:nvPr>
            <p:ph type="title"/>
          </p:nvPr>
        </p:nvSpPr>
        <p:spPr>
          <a:xfrm>
            <a:off x="504000" y="226080"/>
            <a:ext cx="9071640" cy="94644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8" name="PlaceHolder 2"/>
          <p:cNvSpPr>
            <a:spLocks noGrp="1"/>
          </p:cNvSpPr>
          <p:nvPr>
            <p:ph/>
          </p:nvPr>
        </p:nvSpPr>
        <p:spPr>
          <a:xfrm>
            <a:off x="504000" y="1326600"/>
            <a:ext cx="9071640" cy="3288240"/>
          </a:xfrm>
          <a:prstGeom prst="rect">
            <a:avLst/>
          </a:prstGeom>
          <a:noFill/>
          <a:ln w="0">
            <a:noFill/>
          </a:ln>
        </p:spPr>
        <p:txBody>
          <a:bodyPr lIns="0" rIns="0" tIns="0" bIns="0" anchor="t">
            <a:normAutofit/>
          </a:bodyPr>
          <a:p>
            <a:endParaRPr b="0" lang="en-US" sz="3200" spc="-1" strike="noStrike">
              <a:latin typeface="Arial"/>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5001075D-875F-4D22-824A-1B171BE9194B}" type="slidenum">
              <a:t>&lt;#&gt;</a:t>
            </a:fld>
          </a:p>
        </p:txBody>
      </p:sp>
      <p:sp>
        <p:nvSpPr>
          <p:cNvPr id="6" name="PlaceHolder 5"/>
          <p:cNvSpPr>
            <a:spLocks noGrp="1"/>
          </p:cNvSpPr>
          <p:nvPr>
            <p:ph type="dt" idx="1"/>
          </p:nvPr>
        </p:nvSpPr>
        <p:spPr/>
        <p:txBody>
          <a:bodyPr/>
          <a:p>
            <a:r>
              <a:rPr lang="en-US"/>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9" name="PlaceHolder 1"/>
          <p:cNvSpPr>
            <a:spLocks noGrp="1"/>
          </p:cNvSpPr>
          <p:nvPr>
            <p:ph type="title"/>
          </p:nvPr>
        </p:nvSpPr>
        <p:spPr>
          <a:xfrm>
            <a:off x="504000" y="226080"/>
            <a:ext cx="9071640" cy="94644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10" name="PlaceHolder 2"/>
          <p:cNvSpPr>
            <a:spLocks noGrp="1"/>
          </p:cNvSpPr>
          <p:nvPr>
            <p:ph/>
          </p:nvPr>
        </p:nvSpPr>
        <p:spPr>
          <a:xfrm>
            <a:off x="504000" y="1326600"/>
            <a:ext cx="4426920" cy="3288240"/>
          </a:xfrm>
          <a:prstGeom prst="rect">
            <a:avLst/>
          </a:prstGeom>
          <a:noFill/>
          <a:ln w="0">
            <a:noFill/>
          </a:ln>
        </p:spPr>
        <p:txBody>
          <a:bodyPr lIns="0" rIns="0" tIns="0" bIns="0" anchor="t">
            <a:normAutofit/>
          </a:bodyPr>
          <a:p>
            <a:endParaRPr b="0" lang="en-US" sz="3200" spc="-1" strike="noStrike">
              <a:latin typeface="Arial"/>
            </a:endParaRPr>
          </a:p>
        </p:txBody>
      </p:sp>
      <p:sp>
        <p:nvSpPr>
          <p:cNvPr id="11" name="PlaceHolder 3"/>
          <p:cNvSpPr>
            <a:spLocks noGrp="1"/>
          </p:cNvSpPr>
          <p:nvPr>
            <p:ph/>
          </p:nvPr>
        </p:nvSpPr>
        <p:spPr>
          <a:xfrm>
            <a:off x="5152680" y="1326600"/>
            <a:ext cx="4426920" cy="3288240"/>
          </a:xfrm>
          <a:prstGeom prst="rect">
            <a:avLst/>
          </a:prstGeom>
          <a:noFill/>
          <a:ln w="0">
            <a:noFill/>
          </a:ln>
        </p:spPr>
        <p:txBody>
          <a:bodyPr lIns="0" rIns="0" tIns="0" bIns="0" anchor="t">
            <a:normAutofit/>
          </a:bodyPr>
          <a:p>
            <a:endParaRPr b="0" lang="en-US" sz="3200" spc="-1" strike="noStrike">
              <a:latin typeface="Arial"/>
            </a:endParaRPr>
          </a:p>
        </p:txBody>
      </p:sp>
      <p:sp>
        <p:nvSpPr>
          <p:cNvPr id="5" name="PlaceHolder 4"/>
          <p:cNvSpPr>
            <a:spLocks noGrp="1"/>
          </p:cNvSpPr>
          <p:nvPr>
            <p:ph type="ftr" idx="2"/>
          </p:nvPr>
        </p:nvSpPr>
        <p:spPr/>
        <p:txBody>
          <a:bodyPr/>
          <a:p>
            <a:r>
              <a:t>Footer</a:t>
            </a:r>
          </a:p>
        </p:txBody>
      </p:sp>
      <p:sp>
        <p:nvSpPr>
          <p:cNvPr id="6" name="PlaceHolder 5"/>
          <p:cNvSpPr>
            <a:spLocks noGrp="1"/>
          </p:cNvSpPr>
          <p:nvPr>
            <p:ph type="sldNum" idx="3"/>
          </p:nvPr>
        </p:nvSpPr>
        <p:spPr/>
        <p:txBody>
          <a:bodyPr/>
          <a:p>
            <a:fld id="{6A9E7042-0DA9-4B11-9ADC-30E78BB6C976}" type="slidenum">
              <a:t>&lt;#&gt;</a:t>
            </a:fld>
          </a:p>
        </p:txBody>
      </p:sp>
      <p:sp>
        <p:nvSpPr>
          <p:cNvPr id="7" name="PlaceHolder 6"/>
          <p:cNvSpPr>
            <a:spLocks noGrp="1"/>
          </p:cNvSpPr>
          <p:nvPr>
            <p:ph type="dt" idx="1"/>
          </p:nvPr>
        </p:nvSpPr>
        <p:spPr/>
        <p:txBody>
          <a:bodyPr/>
          <a:p>
            <a:r>
              <a:rPr lang="en-US"/>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2" name="PlaceHolder 1"/>
          <p:cNvSpPr>
            <a:spLocks noGrp="1"/>
          </p:cNvSpPr>
          <p:nvPr>
            <p:ph type="title"/>
          </p:nvPr>
        </p:nvSpPr>
        <p:spPr>
          <a:xfrm>
            <a:off x="504000" y="226080"/>
            <a:ext cx="9071640" cy="94644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3" name="PlaceHolder 2"/>
          <p:cNvSpPr>
            <a:spLocks noGrp="1"/>
          </p:cNvSpPr>
          <p:nvPr>
            <p:ph type="ftr" idx="2"/>
          </p:nvPr>
        </p:nvSpPr>
        <p:spPr/>
        <p:txBody>
          <a:bodyPr/>
          <a:p>
            <a:r>
              <a:t>Footer</a:t>
            </a:r>
          </a:p>
        </p:txBody>
      </p:sp>
      <p:sp>
        <p:nvSpPr>
          <p:cNvPr id="4" name="PlaceHolder 3"/>
          <p:cNvSpPr>
            <a:spLocks noGrp="1"/>
          </p:cNvSpPr>
          <p:nvPr>
            <p:ph type="sldNum" idx="3"/>
          </p:nvPr>
        </p:nvSpPr>
        <p:spPr/>
        <p:txBody>
          <a:bodyPr/>
          <a:p>
            <a:fld id="{966CA79D-C74A-4987-9D95-99FF3770F4ED}" type="slidenum">
              <a:t>&lt;#&gt;</a:t>
            </a:fld>
          </a:p>
        </p:txBody>
      </p:sp>
      <p:sp>
        <p:nvSpPr>
          <p:cNvPr id="5" name="PlaceHolder 4"/>
          <p:cNvSpPr>
            <a:spLocks noGrp="1"/>
          </p:cNvSpPr>
          <p:nvPr>
            <p:ph type="dt" idx="1"/>
          </p:nvPr>
        </p:nvSpPr>
        <p:spPr/>
        <p:txBody>
          <a:bodyPr/>
          <a:p>
            <a:r>
              <a:rPr lang="en-US"/>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3" name="PlaceHolder 1"/>
          <p:cNvSpPr>
            <a:spLocks noGrp="1"/>
          </p:cNvSpPr>
          <p:nvPr>
            <p:ph type="subTitle"/>
          </p:nvPr>
        </p:nvSpPr>
        <p:spPr>
          <a:xfrm>
            <a:off x="504000" y="226080"/>
            <a:ext cx="9071640" cy="438840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3" name="PlaceHolder 2"/>
          <p:cNvSpPr>
            <a:spLocks noGrp="1"/>
          </p:cNvSpPr>
          <p:nvPr>
            <p:ph type="ftr" idx="2"/>
          </p:nvPr>
        </p:nvSpPr>
        <p:spPr/>
        <p:txBody>
          <a:bodyPr/>
          <a:p>
            <a:r>
              <a:t>Footer</a:t>
            </a:r>
          </a:p>
        </p:txBody>
      </p:sp>
      <p:sp>
        <p:nvSpPr>
          <p:cNvPr id="4" name="PlaceHolder 3"/>
          <p:cNvSpPr>
            <a:spLocks noGrp="1"/>
          </p:cNvSpPr>
          <p:nvPr>
            <p:ph type="sldNum" idx="3"/>
          </p:nvPr>
        </p:nvSpPr>
        <p:spPr/>
        <p:txBody>
          <a:bodyPr/>
          <a:p>
            <a:fld id="{5F2B16A9-00E9-4365-A98D-829B5DF88F47}" type="slidenum">
              <a:t>&lt;#&gt;</a:t>
            </a:fld>
          </a:p>
        </p:txBody>
      </p:sp>
      <p:sp>
        <p:nvSpPr>
          <p:cNvPr id="5" name="PlaceHolder 4"/>
          <p:cNvSpPr>
            <a:spLocks noGrp="1"/>
          </p:cNvSpPr>
          <p:nvPr>
            <p:ph type="dt" idx="1"/>
          </p:nvPr>
        </p:nvSpPr>
        <p:spPr/>
        <p:txBody>
          <a:bodyPr/>
          <a:p>
            <a:r>
              <a:rPr lang="en-US"/>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4" name="PlaceHolder 1"/>
          <p:cNvSpPr>
            <a:spLocks noGrp="1"/>
          </p:cNvSpPr>
          <p:nvPr>
            <p:ph type="title"/>
          </p:nvPr>
        </p:nvSpPr>
        <p:spPr>
          <a:xfrm>
            <a:off x="504000" y="226080"/>
            <a:ext cx="9071640" cy="94644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15" name="PlaceHolder 2"/>
          <p:cNvSpPr>
            <a:spLocks noGrp="1"/>
          </p:cNvSpPr>
          <p:nvPr>
            <p:ph/>
          </p:nvPr>
        </p:nvSpPr>
        <p:spPr>
          <a:xfrm>
            <a:off x="504000" y="1326600"/>
            <a:ext cx="4426920" cy="1568160"/>
          </a:xfrm>
          <a:prstGeom prst="rect">
            <a:avLst/>
          </a:prstGeom>
          <a:noFill/>
          <a:ln w="0">
            <a:noFill/>
          </a:ln>
        </p:spPr>
        <p:txBody>
          <a:bodyPr lIns="0" rIns="0" tIns="0" bIns="0" anchor="t">
            <a:normAutofit/>
          </a:bodyPr>
          <a:p>
            <a:endParaRPr b="0" lang="en-US" sz="3200" spc="-1" strike="noStrike">
              <a:latin typeface="Arial"/>
            </a:endParaRPr>
          </a:p>
        </p:txBody>
      </p:sp>
      <p:sp>
        <p:nvSpPr>
          <p:cNvPr id="16" name="PlaceHolder 3"/>
          <p:cNvSpPr>
            <a:spLocks noGrp="1"/>
          </p:cNvSpPr>
          <p:nvPr>
            <p:ph/>
          </p:nvPr>
        </p:nvSpPr>
        <p:spPr>
          <a:xfrm>
            <a:off x="5152680" y="1326600"/>
            <a:ext cx="4426920" cy="3288240"/>
          </a:xfrm>
          <a:prstGeom prst="rect">
            <a:avLst/>
          </a:prstGeom>
          <a:noFill/>
          <a:ln w="0">
            <a:noFill/>
          </a:ln>
        </p:spPr>
        <p:txBody>
          <a:bodyPr lIns="0" rIns="0" tIns="0" bIns="0" anchor="t">
            <a:normAutofit/>
          </a:bodyPr>
          <a:p>
            <a:endParaRPr b="0" lang="en-US" sz="3200" spc="-1" strike="noStrike">
              <a:latin typeface="Arial"/>
            </a:endParaRPr>
          </a:p>
        </p:txBody>
      </p:sp>
      <p:sp>
        <p:nvSpPr>
          <p:cNvPr id="17" name="PlaceHolder 4"/>
          <p:cNvSpPr>
            <a:spLocks noGrp="1"/>
          </p:cNvSpPr>
          <p:nvPr>
            <p:ph/>
          </p:nvPr>
        </p:nvSpPr>
        <p:spPr>
          <a:xfrm>
            <a:off x="504000" y="3044160"/>
            <a:ext cx="4426920" cy="1568160"/>
          </a:xfrm>
          <a:prstGeom prst="rect">
            <a:avLst/>
          </a:prstGeom>
          <a:noFill/>
          <a:ln w="0">
            <a:noFill/>
          </a:ln>
        </p:spPr>
        <p:txBody>
          <a:bodyPr lIns="0" rIns="0" tIns="0" bIns="0" anchor="t">
            <a:normAutofit/>
          </a:bodyPr>
          <a:p>
            <a:endParaRPr b="0" lang="en-US" sz="3200" spc="-1" strike="noStrike">
              <a:latin typeface="Arial"/>
            </a:endParaRPr>
          </a:p>
        </p:txBody>
      </p:sp>
      <p:sp>
        <p:nvSpPr>
          <p:cNvPr id="6" name="PlaceHolder 5"/>
          <p:cNvSpPr>
            <a:spLocks noGrp="1"/>
          </p:cNvSpPr>
          <p:nvPr>
            <p:ph type="ftr" idx="2"/>
          </p:nvPr>
        </p:nvSpPr>
        <p:spPr/>
        <p:txBody>
          <a:bodyPr/>
          <a:p>
            <a:r>
              <a:t>Footer</a:t>
            </a:r>
          </a:p>
        </p:txBody>
      </p:sp>
      <p:sp>
        <p:nvSpPr>
          <p:cNvPr id="7" name="PlaceHolder 6"/>
          <p:cNvSpPr>
            <a:spLocks noGrp="1"/>
          </p:cNvSpPr>
          <p:nvPr>
            <p:ph type="sldNum" idx="3"/>
          </p:nvPr>
        </p:nvSpPr>
        <p:spPr/>
        <p:txBody>
          <a:bodyPr/>
          <a:p>
            <a:fld id="{884331BF-A493-4F11-8D50-040160F9A0DD}" type="slidenum">
              <a:t>&lt;#&gt;</a:t>
            </a:fld>
          </a:p>
        </p:txBody>
      </p:sp>
      <p:sp>
        <p:nvSpPr>
          <p:cNvPr id="8" name="PlaceHolder 7"/>
          <p:cNvSpPr>
            <a:spLocks noGrp="1"/>
          </p:cNvSpPr>
          <p:nvPr>
            <p:ph type="dt" idx="1"/>
          </p:nvPr>
        </p:nvSpPr>
        <p:spPr/>
        <p:txBody>
          <a:bodyPr/>
          <a:p>
            <a:r>
              <a:rPr lang="en-US"/>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8" name="PlaceHolder 1"/>
          <p:cNvSpPr>
            <a:spLocks noGrp="1"/>
          </p:cNvSpPr>
          <p:nvPr>
            <p:ph type="title"/>
          </p:nvPr>
        </p:nvSpPr>
        <p:spPr>
          <a:xfrm>
            <a:off x="504000" y="226080"/>
            <a:ext cx="9071640" cy="94644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19" name="PlaceHolder 2"/>
          <p:cNvSpPr>
            <a:spLocks noGrp="1"/>
          </p:cNvSpPr>
          <p:nvPr>
            <p:ph/>
          </p:nvPr>
        </p:nvSpPr>
        <p:spPr>
          <a:xfrm>
            <a:off x="504000" y="1326600"/>
            <a:ext cx="4426920" cy="3288240"/>
          </a:xfrm>
          <a:prstGeom prst="rect">
            <a:avLst/>
          </a:prstGeom>
          <a:noFill/>
          <a:ln w="0">
            <a:noFill/>
          </a:ln>
        </p:spPr>
        <p:txBody>
          <a:bodyPr lIns="0" rIns="0" tIns="0" bIns="0" anchor="t">
            <a:normAutofit/>
          </a:bodyPr>
          <a:p>
            <a:endParaRPr b="0" lang="en-US" sz="3200" spc="-1" strike="noStrike">
              <a:latin typeface="Arial"/>
            </a:endParaRPr>
          </a:p>
        </p:txBody>
      </p:sp>
      <p:sp>
        <p:nvSpPr>
          <p:cNvPr id="20" name="PlaceHolder 3"/>
          <p:cNvSpPr>
            <a:spLocks noGrp="1"/>
          </p:cNvSpPr>
          <p:nvPr>
            <p:ph/>
          </p:nvPr>
        </p:nvSpPr>
        <p:spPr>
          <a:xfrm>
            <a:off x="5152680" y="1326600"/>
            <a:ext cx="4426920" cy="1568160"/>
          </a:xfrm>
          <a:prstGeom prst="rect">
            <a:avLst/>
          </a:prstGeom>
          <a:noFill/>
          <a:ln w="0">
            <a:noFill/>
          </a:ln>
        </p:spPr>
        <p:txBody>
          <a:bodyPr lIns="0" rIns="0" tIns="0" bIns="0" anchor="t">
            <a:normAutofit/>
          </a:bodyPr>
          <a:p>
            <a:endParaRPr b="0" lang="en-US" sz="3200" spc="-1" strike="noStrike">
              <a:latin typeface="Arial"/>
            </a:endParaRPr>
          </a:p>
        </p:txBody>
      </p:sp>
      <p:sp>
        <p:nvSpPr>
          <p:cNvPr id="21" name="PlaceHolder 4"/>
          <p:cNvSpPr>
            <a:spLocks noGrp="1"/>
          </p:cNvSpPr>
          <p:nvPr>
            <p:ph/>
          </p:nvPr>
        </p:nvSpPr>
        <p:spPr>
          <a:xfrm>
            <a:off x="5152680" y="3044160"/>
            <a:ext cx="4426920" cy="1568160"/>
          </a:xfrm>
          <a:prstGeom prst="rect">
            <a:avLst/>
          </a:prstGeom>
          <a:noFill/>
          <a:ln w="0">
            <a:noFill/>
          </a:ln>
        </p:spPr>
        <p:txBody>
          <a:bodyPr lIns="0" rIns="0" tIns="0" bIns="0" anchor="t">
            <a:normAutofit/>
          </a:bodyPr>
          <a:p>
            <a:endParaRPr b="0" lang="en-US" sz="3200" spc="-1" strike="noStrike">
              <a:latin typeface="Arial"/>
            </a:endParaRPr>
          </a:p>
        </p:txBody>
      </p:sp>
      <p:sp>
        <p:nvSpPr>
          <p:cNvPr id="6" name="PlaceHolder 5"/>
          <p:cNvSpPr>
            <a:spLocks noGrp="1"/>
          </p:cNvSpPr>
          <p:nvPr>
            <p:ph type="ftr" idx="2"/>
          </p:nvPr>
        </p:nvSpPr>
        <p:spPr/>
        <p:txBody>
          <a:bodyPr/>
          <a:p>
            <a:r>
              <a:t>Footer</a:t>
            </a:r>
          </a:p>
        </p:txBody>
      </p:sp>
      <p:sp>
        <p:nvSpPr>
          <p:cNvPr id="7" name="PlaceHolder 6"/>
          <p:cNvSpPr>
            <a:spLocks noGrp="1"/>
          </p:cNvSpPr>
          <p:nvPr>
            <p:ph type="sldNum" idx="3"/>
          </p:nvPr>
        </p:nvSpPr>
        <p:spPr/>
        <p:txBody>
          <a:bodyPr/>
          <a:p>
            <a:fld id="{2BA3C7CB-8B62-4CEC-839F-4AADE49B1382}" type="slidenum">
              <a:t>&lt;#&gt;</a:t>
            </a:fld>
          </a:p>
        </p:txBody>
      </p:sp>
      <p:sp>
        <p:nvSpPr>
          <p:cNvPr id="8" name="PlaceHolder 7"/>
          <p:cNvSpPr>
            <a:spLocks noGrp="1"/>
          </p:cNvSpPr>
          <p:nvPr>
            <p:ph type="dt" idx="1"/>
          </p:nvPr>
        </p:nvSpPr>
        <p:spPr/>
        <p:txBody>
          <a:bodyPr/>
          <a:p>
            <a:r>
              <a:rPr lang="en-US"/>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504000" y="226080"/>
            <a:ext cx="9071640" cy="94644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23" name="PlaceHolder 2"/>
          <p:cNvSpPr>
            <a:spLocks noGrp="1"/>
          </p:cNvSpPr>
          <p:nvPr>
            <p:ph/>
          </p:nvPr>
        </p:nvSpPr>
        <p:spPr>
          <a:xfrm>
            <a:off x="504000" y="1326600"/>
            <a:ext cx="4426920" cy="1568160"/>
          </a:xfrm>
          <a:prstGeom prst="rect">
            <a:avLst/>
          </a:prstGeom>
          <a:noFill/>
          <a:ln w="0">
            <a:noFill/>
          </a:ln>
        </p:spPr>
        <p:txBody>
          <a:bodyPr lIns="0" rIns="0" tIns="0" bIns="0" anchor="t">
            <a:normAutofit/>
          </a:bodyPr>
          <a:p>
            <a:endParaRPr b="0" lang="en-US" sz="3200" spc="-1" strike="noStrike">
              <a:latin typeface="Arial"/>
            </a:endParaRPr>
          </a:p>
        </p:txBody>
      </p:sp>
      <p:sp>
        <p:nvSpPr>
          <p:cNvPr id="24" name="PlaceHolder 3"/>
          <p:cNvSpPr>
            <a:spLocks noGrp="1"/>
          </p:cNvSpPr>
          <p:nvPr>
            <p:ph/>
          </p:nvPr>
        </p:nvSpPr>
        <p:spPr>
          <a:xfrm>
            <a:off x="5152680" y="1326600"/>
            <a:ext cx="4426920" cy="1568160"/>
          </a:xfrm>
          <a:prstGeom prst="rect">
            <a:avLst/>
          </a:prstGeom>
          <a:noFill/>
          <a:ln w="0">
            <a:noFill/>
          </a:ln>
        </p:spPr>
        <p:txBody>
          <a:bodyPr lIns="0" rIns="0" tIns="0" bIns="0" anchor="t">
            <a:normAutofit/>
          </a:bodyPr>
          <a:p>
            <a:endParaRPr b="0" lang="en-US" sz="3200" spc="-1" strike="noStrike">
              <a:latin typeface="Arial"/>
            </a:endParaRPr>
          </a:p>
        </p:txBody>
      </p:sp>
      <p:sp>
        <p:nvSpPr>
          <p:cNvPr id="25" name="PlaceHolder 4"/>
          <p:cNvSpPr>
            <a:spLocks noGrp="1"/>
          </p:cNvSpPr>
          <p:nvPr>
            <p:ph/>
          </p:nvPr>
        </p:nvSpPr>
        <p:spPr>
          <a:xfrm>
            <a:off x="504000" y="3044160"/>
            <a:ext cx="9071640" cy="1568160"/>
          </a:xfrm>
          <a:prstGeom prst="rect">
            <a:avLst/>
          </a:prstGeom>
          <a:noFill/>
          <a:ln w="0">
            <a:noFill/>
          </a:ln>
        </p:spPr>
        <p:txBody>
          <a:bodyPr lIns="0" rIns="0" tIns="0" bIns="0" anchor="t">
            <a:normAutofit/>
          </a:bodyPr>
          <a:p>
            <a:endParaRPr b="0" lang="en-US" sz="3200" spc="-1" strike="noStrike">
              <a:latin typeface="Arial"/>
            </a:endParaRPr>
          </a:p>
        </p:txBody>
      </p:sp>
      <p:sp>
        <p:nvSpPr>
          <p:cNvPr id="6" name="PlaceHolder 5"/>
          <p:cNvSpPr>
            <a:spLocks noGrp="1"/>
          </p:cNvSpPr>
          <p:nvPr>
            <p:ph type="ftr" idx="2"/>
          </p:nvPr>
        </p:nvSpPr>
        <p:spPr/>
        <p:txBody>
          <a:bodyPr/>
          <a:p>
            <a:r>
              <a:t>Footer</a:t>
            </a:r>
          </a:p>
        </p:txBody>
      </p:sp>
      <p:sp>
        <p:nvSpPr>
          <p:cNvPr id="7" name="PlaceHolder 6"/>
          <p:cNvSpPr>
            <a:spLocks noGrp="1"/>
          </p:cNvSpPr>
          <p:nvPr>
            <p:ph type="sldNum" idx="3"/>
          </p:nvPr>
        </p:nvSpPr>
        <p:spPr/>
        <p:txBody>
          <a:bodyPr/>
          <a:p>
            <a:fld id="{F0D4A192-6BED-47D2-B9AD-6D29677C34E6}" type="slidenum">
              <a:t>&lt;#&gt;</a:t>
            </a:fld>
          </a:p>
        </p:txBody>
      </p:sp>
      <p:sp>
        <p:nvSpPr>
          <p:cNvPr id="8" name="PlaceHolder 7"/>
          <p:cNvSpPr>
            <a:spLocks noGrp="1"/>
          </p:cNvSpPr>
          <p:nvPr>
            <p:ph type="dt" idx="1"/>
          </p:nvPr>
        </p:nvSpPr>
        <p:spPr/>
        <p:txBody>
          <a:bodyPr/>
          <a:p>
            <a:r>
              <a:rPr lang="en-US"/>
              <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504000" y="226080"/>
            <a:ext cx="9071640" cy="94644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27" name="PlaceHolder 2"/>
          <p:cNvSpPr>
            <a:spLocks noGrp="1"/>
          </p:cNvSpPr>
          <p:nvPr>
            <p:ph/>
          </p:nvPr>
        </p:nvSpPr>
        <p:spPr>
          <a:xfrm>
            <a:off x="504000" y="1326600"/>
            <a:ext cx="9071640" cy="1568160"/>
          </a:xfrm>
          <a:prstGeom prst="rect">
            <a:avLst/>
          </a:prstGeom>
          <a:noFill/>
          <a:ln w="0">
            <a:noFill/>
          </a:ln>
        </p:spPr>
        <p:txBody>
          <a:bodyPr lIns="0" rIns="0" tIns="0" bIns="0" anchor="t">
            <a:normAutofit/>
          </a:bodyPr>
          <a:p>
            <a:endParaRPr b="0" lang="en-US" sz="3200" spc="-1" strike="noStrike">
              <a:latin typeface="Arial"/>
            </a:endParaRPr>
          </a:p>
        </p:txBody>
      </p:sp>
      <p:sp>
        <p:nvSpPr>
          <p:cNvPr id="28" name="PlaceHolder 3"/>
          <p:cNvSpPr>
            <a:spLocks noGrp="1"/>
          </p:cNvSpPr>
          <p:nvPr>
            <p:ph/>
          </p:nvPr>
        </p:nvSpPr>
        <p:spPr>
          <a:xfrm>
            <a:off x="504000" y="3044160"/>
            <a:ext cx="9071640" cy="1568160"/>
          </a:xfrm>
          <a:prstGeom prst="rect">
            <a:avLst/>
          </a:prstGeom>
          <a:noFill/>
          <a:ln w="0">
            <a:noFill/>
          </a:ln>
        </p:spPr>
        <p:txBody>
          <a:bodyPr lIns="0" rIns="0" tIns="0" bIns="0" anchor="t">
            <a:normAutofit/>
          </a:bodyPr>
          <a:p>
            <a:endParaRPr b="0" lang="en-US" sz="3200" spc="-1" strike="noStrike">
              <a:latin typeface="Arial"/>
            </a:endParaRPr>
          </a:p>
        </p:txBody>
      </p:sp>
      <p:sp>
        <p:nvSpPr>
          <p:cNvPr id="5" name="PlaceHolder 4"/>
          <p:cNvSpPr>
            <a:spLocks noGrp="1"/>
          </p:cNvSpPr>
          <p:nvPr>
            <p:ph type="ftr" idx="2"/>
          </p:nvPr>
        </p:nvSpPr>
        <p:spPr/>
        <p:txBody>
          <a:bodyPr/>
          <a:p>
            <a:r>
              <a:t>Footer</a:t>
            </a:r>
          </a:p>
        </p:txBody>
      </p:sp>
      <p:sp>
        <p:nvSpPr>
          <p:cNvPr id="6" name="PlaceHolder 5"/>
          <p:cNvSpPr>
            <a:spLocks noGrp="1"/>
          </p:cNvSpPr>
          <p:nvPr>
            <p:ph type="sldNum" idx="3"/>
          </p:nvPr>
        </p:nvSpPr>
        <p:spPr/>
        <p:txBody>
          <a:bodyPr/>
          <a:p>
            <a:fld id="{3887DF38-08E2-462E-A02E-CBF81BEC92BF}" type="slidenum">
              <a:t>&lt;#&gt;</a:t>
            </a:fld>
          </a:p>
        </p:txBody>
      </p:sp>
      <p:sp>
        <p:nvSpPr>
          <p:cNvPr id="7" name="PlaceHolder 6"/>
          <p:cNvSpPr>
            <a:spLocks noGrp="1"/>
          </p:cNvSpPr>
          <p:nvPr>
            <p:ph type="dt" idx="1"/>
          </p:nvPr>
        </p:nvSpPr>
        <p:spPr/>
        <p:txBody>
          <a:bodyPr/>
          <a:p>
            <a:r>
              <a:rPr lang="en-US"/>
              <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504000" y="226080"/>
            <a:ext cx="9071640" cy="94644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30" name="PlaceHolder 2"/>
          <p:cNvSpPr>
            <a:spLocks noGrp="1"/>
          </p:cNvSpPr>
          <p:nvPr>
            <p:ph/>
          </p:nvPr>
        </p:nvSpPr>
        <p:spPr>
          <a:xfrm>
            <a:off x="504000" y="1326600"/>
            <a:ext cx="4426920" cy="1568160"/>
          </a:xfrm>
          <a:prstGeom prst="rect">
            <a:avLst/>
          </a:prstGeom>
          <a:noFill/>
          <a:ln w="0">
            <a:noFill/>
          </a:ln>
        </p:spPr>
        <p:txBody>
          <a:bodyPr lIns="0" rIns="0" tIns="0" bIns="0" anchor="t">
            <a:normAutofit/>
          </a:bodyPr>
          <a:p>
            <a:endParaRPr b="0" lang="en-US" sz="3200" spc="-1" strike="noStrike">
              <a:latin typeface="Arial"/>
            </a:endParaRPr>
          </a:p>
        </p:txBody>
      </p:sp>
      <p:sp>
        <p:nvSpPr>
          <p:cNvPr id="31" name="PlaceHolder 3"/>
          <p:cNvSpPr>
            <a:spLocks noGrp="1"/>
          </p:cNvSpPr>
          <p:nvPr>
            <p:ph/>
          </p:nvPr>
        </p:nvSpPr>
        <p:spPr>
          <a:xfrm>
            <a:off x="5152680" y="1326600"/>
            <a:ext cx="4426920" cy="1568160"/>
          </a:xfrm>
          <a:prstGeom prst="rect">
            <a:avLst/>
          </a:prstGeom>
          <a:noFill/>
          <a:ln w="0">
            <a:noFill/>
          </a:ln>
        </p:spPr>
        <p:txBody>
          <a:bodyPr lIns="0" rIns="0" tIns="0" bIns="0" anchor="t">
            <a:normAutofit/>
          </a:bodyPr>
          <a:p>
            <a:endParaRPr b="0" lang="en-US" sz="3200" spc="-1" strike="noStrike">
              <a:latin typeface="Arial"/>
            </a:endParaRPr>
          </a:p>
        </p:txBody>
      </p:sp>
      <p:sp>
        <p:nvSpPr>
          <p:cNvPr id="32" name="PlaceHolder 4"/>
          <p:cNvSpPr>
            <a:spLocks noGrp="1"/>
          </p:cNvSpPr>
          <p:nvPr>
            <p:ph/>
          </p:nvPr>
        </p:nvSpPr>
        <p:spPr>
          <a:xfrm>
            <a:off x="504000" y="3044160"/>
            <a:ext cx="4426920" cy="1568160"/>
          </a:xfrm>
          <a:prstGeom prst="rect">
            <a:avLst/>
          </a:prstGeom>
          <a:noFill/>
          <a:ln w="0">
            <a:noFill/>
          </a:ln>
        </p:spPr>
        <p:txBody>
          <a:bodyPr lIns="0" rIns="0" tIns="0" bIns="0" anchor="t">
            <a:normAutofit/>
          </a:bodyPr>
          <a:p>
            <a:endParaRPr b="0" lang="en-US" sz="3200" spc="-1" strike="noStrike">
              <a:latin typeface="Arial"/>
            </a:endParaRPr>
          </a:p>
        </p:txBody>
      </p:sp>
      <p:sp>
        <p:nvSpPr>
          <p:cNvPr id="33" name="PlaceHolder 5"/>
          <p:cNvSpPr>
            <a:spLocks noGrp="1"/>
          </p:cNvSpPr>
          <p:nvPr>
            <p:ph/>
          </p:nvPr>
        </p:nvSpPr>
        <p:spPr>
          <a:xfrm>
            <a:off x="5152680" y="3044160"/>
            <a:ext cx="4426920" cy="1568160"/>
          </a:xfrm>
          <a:prstGeom prst="rect">
            <a:avLst/>
          </a:prstGeom>
          <a:noFill/>
          <a:ln w="0">
            <a:noFill/>
          </a:ln>
        </p:spPr>
        <p:txBody>
          <a:bodyPr lIns="0" rIns="0" tIns="0" bIns="0" anchor="t">
            <a:normAutofit/>
          </a:bodyPr>
          <a:p>
            <a:endParaRPr b="0" lang="en-US" sz="3200" spc="-1" strike="noStrike">
              <a:latin typeface="Arial"/>
            </a:endParaRPr>
          </a:p>
        </p:txBody>
      </p:sp>
      <p:sp>
        <p:nvSpPr>
          <p:cNvPr id="7" name="PlaceHolder 6"/>
          <p:cNvSpPr>
            <a:spLocks noGrp="1"/>
          </p:cNvSpPr>
          <p:nvPr>
            <p:ph type="ftr" idx="2"/>
          </p:nvPr>
        </p:nvSpPr>
        <p:spPr/>
        <p:txBody>
          <a:bodyPr/>
          <a:p>
            <a:r>
              <a:t>Footer</a:t>
            </a:r>
          </a:p>
        </p:txBody>
      </p:sp>
      <p:sp>
        <p:nvSpPr>
          <p:cNvPr id="8" name="PlaceHolder 7"/>
          <p:cNvSpPr>
            <a:spLocks noGrp="1"/>
          </p:cNvSpPr>
          <p:nvPr>
            <p:ph type="sldNum" idx="3"/>
          </p:nvPr>
        </p:nvSpPr>
        <p:spPr/>
        <p:txBody>
          <a:bodyPr/>
          <a:p>
            <a:fld id="{01F8FA09-106E-4CB8-B3EE-2E0E6B47033A}" type="slidenum">
              <a:t>&lt;#&gt;</a:t>
            </a:fld>
          </a:p>
        </p:txBody>
      </p:sp>
      <p:sp>
        <p:nvSpPr>
          <p:cNvPr id="9" name="PlaceHolder 8"/>
          <p:cNvSpPr>
            <a:spLocks noGrp="1"/>
          </p:cNvSpPr>
          <p:nvPr>
            <p:ph type="dt" idx="1"/>
          </p:nvPr>
        </p:nvSpPr>
        <p:spPr/>
        <p:txBody>
          <a:bodyPr/>
          <a:p>
            <a:r>
              <a:rPr lang="en-US"/>
              <a:t/>
            </a: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4" name="PlaceHolder 1"/>
          <p:cNvSpPr>
            <a:spLocks noGrp="1"/>
          </p:cNvSpPr>
          <p:nvPr>
            <p:ph type="title"/>
          </p:nvPr>
        </p:nvSpPr>
        <p:spPr>
          <a:xfrm>
            <a:off x="504000" y="226080"/>
            <a:ext cx="9071640" cy="94644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35" name="PlaceHolder 2"/>
          <p:cNvSpPr>
            <a:spLocks noGrp="1"/>
          </p:cNvSpPr>
          <p:nvPr>
            <p:ph/>
          </p:nvPr>
        </p:nvSpPr>
        <p:spPr>
          <a:xfrm>
            <a:off x="504000" y="1326600"/>
            <a:ext cx="2920680" cy="1568160"/>
          </a:xfrm>
          <a:prstGeom prst="rect">
            <a:avLst/>
          </a:prstGeom>
          <a:noFill/>
          <a:ln w="0">
            <a:noFill/>
          </a:ln>
        </p:spPr>
        <p:txBody>
          <a:bodyPr lIns="0" rIns="0" tIns="0" bIns="0" anchor="t">
            <a:normAutofit/>
          </a:bodyPr>
          <a:p>
            <a:endParaRPr b="0" lang="en-US" sz="3200" spc="-1" strike="noStrike">
              <a:latin typeface="Arial"/>
            </a:endParaRPr>
          </a:p>
        </p:txBody>
      </p:sp>
      <p:sp>
        <p:nvSpPr>
          <p:cNvPr id="36" name="PlaceHolder 3"/>
          <p:cNvSpPr>
            <a:spLocks noGrp="1"/>
          </p:cNvSpPr>
          <p:nvPr>
            <p:ph/>
          </p:nvPr>
        </p:nvSpPr>
        <p:spPr>
          <a:xfrm>
            <a:off x="3571200" y="1326600"/>
            <a:ext cx="2920680" cy="1568160"/>
          </a:xfrm>
          <a:prstGeom prst="rect">
            <a:avLst/>
          </a:prstGeom>
          <a:noFill/>
          <a:ln w="0">
            <a:noFill/>
          </a:ln>
        </p:spPr>
        <p:txBody>
          <a:bodyPr lIns="0" rIns="0" tIns="0" bIns="0" anchor="t">
            <a:normAutofit/>
          </a:bodyPr>
          <a:p>
            <a:endParaRPr b="0" lang="en-US" sz="3200" spc="-1" strike="noStrike">
              <a:latin typeface="Arial"/>
            </a:endParaRPr>
          </a:p>
        </p:txBody>
      </p:sp>
      <p:sp>
        <p:nvSpPr>
          <p:cNvPr id="37" name="PlaceHolder 4"/>
          <p:cNvSpPr>
            <a:spLocks noGrp="1"/>
          </p:cNvSpPr>
          <p:nvPr>
            <p:ph/>
          </p:nvPr>
        </p:nvSpPr>
        <p:spPr>
          <a:xfrm>
            <a:off x="6638040" y="1326600"/>
            <a:ext cx="2920680" cy="1568160"/>
          </a:xfrm>
          <a:prstGeom prst="rect">
            <a:avLst/>
          </a:prstGeom>
          <a:noFill/>
          <a:ln w="0">
            <a:noFill/>
          </a:ln>
        </p:spPr>
        <p:txBody>
          <a:bodyPr lIns="0" rIns="0" tIns="0" bIns="0" anchor="t">
            <a:normAutofit/>
          </a:bodyPr>
          <a:p>
            <a:endParaRPr b="0" lang="en-US" sz="3200" spc="-1" strike="noStrike">
              <a:latin typeface="Arial"/>
            </a:endParaRPr>
          </a:p>
        </p:txBody>
      </p:sp>
      <p:sp>
        <p:nvSpPr>
          <p:cNvPr id="38" name="PlaceHolder 5"/>
          <p:cNvSpPr>
            <a:spLocks noGrp="1"/>
          </p:cNvSpPr>
          <p:nvPr>
            <p:ph/>
          </p:nvPr>
        </p:nvSpPr>
        <p:spPr>
          <a:xfrm>
            <a:off x="504000" y="3044160"/>
            <a:ext cx="2920680" cy="1568160"/>
          </a:xfrm>
          <a:prstGeom prst="rect">
            <a:avLst/>
          </a:prstGeom>
          <a:noFill/>
          <a:ln w="0">
            <a:noFill/>
          </a:ln>
        </p:spPr>
        <p:txBody>
          <a:bodyPr lIns="0" rIns="0" tIns="0" bIns="0" anchor="t">
            <a:normAutofit/>
          </a:bodyPr>
          <a:p>
            <a:endParaRPr b="0" lang="en-US" sz="3200" spc="-1" strike="noStrike">
              <a:latin typeface="Arial"/>
            </a:endParaRPr>
          </a:p>
        </p:txBody>
      </p:sp>
      <p:sp>
        <p:nvSpPr>
          <p:cNvPr id="39" name="PlaceHolder 6"/>
          <p:cNvSpPr>
            <a:spLocks noGrp="1"/>
          </p:cNvSpPr>
          <p:nvPr>
            <p:ph/>
          </p:nvPr>
        </p:nvSpPr>
        <p:spPr>
          <a:xfrm>
            <a:off x="3571200" y="3044160"/>
            <a:ext cx="2920680" cy="1568160"/>
          </a:xfrm>
          <a:prstGeom prst="rect">
            <a:avLst/>
          </a:prstGeom>
          <a:noFill/>
          <a:ln w="0">
            <a:noFill/>
          </a:ln>
        </p:spPr>
        <p:txBody>
          <a:bodyPr lIns="0" rIns="0" tIns="0" bIns="0" anchor="t">
            <a:normAutofit/>
          </a:bodyPr>
          <a:p>
            <a:endParaRPr b="0" lang="en-US" sz="3200" spc="-1" strike="noStrike">
              <a:latin typeface="Arial"/>
            </a:endParaRPr>
          </a:p>
        </p:txBody>
      </p:sp>
      <p:sp>
        <p:nvSpPr>
          <p:cNvPr id="40" name="PlaceHolder 7"/>
          <p:cNvSpPr>
            <a:spLocks noGrp="1"/>
          </p:cNvSpPr>
          <p:nvPr>
            <p:ph/>
          </p:nvPr>
        </p:nvSpPr>
        <p:spPr>
          <a:xfrm>
            <a:off x="6638040" y="3044160"/>
            <a:ext cx="2920680" cy="1568160"/>
          </a:xfrm>
          <a:prstGeom prst="rect">
            <a:avLst/>
          </a:prstGeom>
          <a:noFill/>
          <a:ln w="0">
            <a:noFill/>
          </a:ln>
        </p:spPr>
        <p:txBody>
          <a:bodyPr lIns="0" rIns="0" tIns="0" bIns="0" anchor="t">
            <a:normAutofit/>
          </a:bodyPr>
          <a:p>
            <a:endParaRPr b="0" lang="en-US" sz="3200" spc="-1" strike="noStrike">
              <a:latin typeface="Arial"/>
            </a:endParaRPr>
          </a:p>
        </p:txBody>
      </p:sp>
      <p:sp>
        <p:nvSpPr>
          <p:cNvPr id="9" name="PlaceHolder 8"/>
          <p:cNvSpPr>
            <a:spLocks noGrp="1"/>
          </p:cNvSpPr>
          <p:nvPr>
            <p:ph type="ftr" idx="2"/>
          </p:nvPr>
        </p:nvSpPr>
        <p:spPr/>
        <p:txBody>
          <a:bodyPr/>
          <a:p>
            <a:r>
              <a:t>Footer</a:t>
            </a:r>
          </a:p>
        </p:txBody>
      </p:sp>
      <p:sp>
        <p:nvSpPr>
          <p:cNvPr id="10" name="PlaceHolder 9"/>
          <p:cNvSpPr>
            <a:spLocks noGrp="1"/>
          </p:cNvSpPr>
          <p:nvPr>
            <p:ph type="sldNum" idx="3"/>
          </p:nvPr>
        </p:nvSpPr>
        <p:spPr/>
        <p:txBody>
          <a:bodyPr/>
          <a:p>
            <a:fld id="{B4CE0A9B-E5BD-4D8B-9598-A1246C6FE63B}" type="slidenum">
              <a:t>&lt;#&gt;</a:t>
            </a:fld>
          </a:p>
        </p:txBody>
      </p:sp>
      <p:sp>
        <p:nvSpPr>
          <p:cNvPr id="11" name="PlaceHolder 10"/>
          <p:cNvSpPr>
            <a:spLocks noGrp="1"/>
          </p:cNvSpPr>
          <p:nvPr>
            <p:ph type="dt" idx="1"/>
          </p:nvPr>
        </p:nvSpPr>
        <p:spPr/>
        <p:txBody>
          <a:bodyPr/>
          <a:p>
            <a:r>
              <a:rPr lang="en-US"/>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0" name="PlaceHolder 1"/>
          <p:cNvSpPr>
            <a:spLocks noGrp="1"/>
          </p:cNvSpPr>
          <p:nvPr>
            <p:ph type="title"/>
          </p:nvPr>
        </p:nvSpPr>
        <p:spPr>
          <a:xfrm>
            <a:off x="504000" y="226080"/>
            <a:ext cx="9071640" cy="946440"/>
          </a:xfrm>
          <a:prstGeom prst="rect">
            <a:avLst/>
          </a:prstGeom>
          <a:noFill/>
          <a:ln w="0">
            <a:noFill/>
          </a:ln>
        </p:spPr>
        <p:txBody>
          <a:bodyPr lIns="0" rIns="0" tIns="0" bIns="0" anchor="ctr">
            <a:noAutofit/>
          </a:bodyPr>
          <a:p>
            <a:pPr algn="ctr">
              <a:buNone/>
            </a:pPr>
            <a:r>
              <a:rPr b="0" lang="en-US" sz="4400" spc="-1" strike="noStrike">
                <a:latin typeface="Arial"/>
              </a:rPr>
              <a:t>Click to edit the title text format</a:t>
            </a:r>
            <a:endParaRPr b="0" lang="en-US" sz="4400" spc="-1" strike="noStrike">
              <a:latin typeface="Arial"/>
            </a:endParaRPr>
          </a:p>
        </p:txBody>
      </p:sp>
      <p:sp>
        <p:nvSpPr>
          <p:cNvPr id="1" name="PlaceHolder 2"/>
          <p:cNvSpPr>
            <a:spLocks noGrp="1"/>
          </p:cNvSpPr>
          <p:nvPr>
            <p:ph type="body"/>
          </p:nvPr>
        </p:nvSpPr>
        <p:spPr>
          <a:xfrm>
            <a:off x="504000" y="1326600"/>
            <a:ext cx="9071640" cy="32882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latin typeface="Arial"/>
              </a:rPr>
              <a:t>Click to edit the outline text format</a:t>
            </a:r>
            <a:endParaRPr b="0" lang="en-US" sz="3200" spc="-1" strike="noStrike">
              <a:latin typeface="Arial"/>
            </a:endParaRPr>
          </a:p>
          <a:p>
            <a:pPr lvl="1" marL="864000" indent="-324000">
              <a:spcBef>
                <a:spcPts val="1134"/>
              </a:spcBef>
              <a:buClr>
                <a:srgbClr val="000000"/>
              </a:buClr>
              <a:buSzPct val="75000"/>
              <a:buFont typeface="Symbol" charset="2"/>
              <a:buChar char=""/>
            </a:pPr>
            <a:r>
              <a:rPr b="0" lang="en-US" sz="2800" spc="-1" strike="noStrike">
                <a:latin typeface="Arial"/>
              </a:rPr>
              <a:t>Second Outline Level</a:t>
            </a:r>
            <a:endParaRPr b="0" lang="en-US" sz="2800" spc="-1" strike="noStrike">
              <a:latin typeface="Arial"/>
            </a:endParaRPr>
          </a:p>
          <a:p>
            <a:pPr lvl="2" marL="1296000" indent="-288000">
              <a:spcBef>
                <a:spcPts val="850"/>
              </a:spcBef>
              <a:buClr>
                <a:srgbClr val="000000"/>
              </a:buClr>
              <a:buSzPct val="45000"/>
              <a:buFont typeface="Wingdings" charset="2"/>
              <a:buChar char=""/>
            </a:pPr>
            <a:r>
              <a:rPr b="0" lang="en-US" sz="2400" spc="-1" strike="noStrike">
                <a:latin typeface="Arial"/>
              </a:rPr>
              <a:t>Third Outline Level</a:t>
            </a:r>
            <a:endParaRPr b="0" lang="en-US" sz="2400" spc="-1" strike="noStrike">
              <a:latin typeface="Arial"/>
            </a:endParaRPr>
          </a:p>
          <a:p>
            <a:pPr lvl="3" marL="1728000" indent="-216000">
              <a:spcBef>
                <a:spcPts val="567"/>
              </a:spcBef>
              <a:buClr>
                <a:srgbClr val="000000"/>
              </a:buClr>
              <a:buSzPct val="75000"/>
              <a:buFont typeface="Symbol" charset="2"/>
              <a:buChar char=""/>
            </a:pPr>
            <a:r>
              <a:rPr b="0" lang="en-US" sz="2000" spc="-1" strike="noStrike">
                <a:latin typeface="Arial"/>
              </a:rPr>
              <a:t>Fourth Outline Level</a:t>
            </a:r>
            <a:endParaRPr b="0" lang="en-US" sz="2000" spc="-1" strike="noStrike">
              <a:latin typeface="Arial"/>
            </a:endParaRPr>
          </a:p>
          <a:p>
            <a:pPr lvl="4" marL="2160000" indent="-216000">
              <a:spcBef>
                <a:spcPts val="283"/>
              </a:spcBef>
              <a:buClr>
                <a:srgbClr val="000000"/>
              </a:buClr>
              <a:buSzPct val="45000"/>
              <a:buFont typeface="Wingdings" charset="2"/>
              <a:buChar char=""/>
            </a:pPr>
            <a:r>
              <a:rPr b="0" lang="en-US" sz="2000" spc="-1" strike="noStrike">
                <a:latin typeface="Arial"/>
              </a:rPr>
              <a:t>Fifth Outline Level</a:t>
            </a:r>
            <a:endParaRPr b="0" lang="en-US" sz="2000" spc="-1" strike="noStrike">
              <a:latin typeface="Arial"/>
            </a:endParaRPr>
          </a:p>
          <a:p>
            <a:pPr lvl="5" marL="2592000" indent="-216000">
              <a:spcBef>
                <a:spcPts val="283"/>
              </a:spcBef>
              <a:buClr>
                <a:srgbClr val="000000"/>
              </a:buClr>
              <a:buSzPct val="45000"/>
              <a:buFont typeface="Wingdings" charset="2"/>
              <a:buChar char=""/>
            </a:pPr>
            <a:r>
              <a:rPr b="0" lang="en-US" sz="2000" spc="-1" strike="noStrike">
                <a:latin typeface="Arial"/>
              </a:rPr>
              <a:t>Sixth Outline Level</a:t>
            </a:r>
            <a:endParaRPr b="0" lang="en-US" sz="2000" spc="-1" strike="noStrike">
              <a:latin typeface="Arial"/>
            </a:endParaRPr>
          </a:p>
          <a:p>
            <a:pPr lvl="6" marL="3024000" indent="-216000">
              <a:spcBef>
                <a:spcPts val="283"/>
              </a:spcBef>
              <a:buClr>
                <a:srgbClr val="000000"/>
              </a:buClr>
              <a:buSzPct val="45000"/>
              <a:buFont typeface="Wingdings" charset="2"/>
              <a:buChar char=""/>
            </a:pPr>
            <a:r>
              <a:rPr b="0" lang="en-US" sz="2000" spc="-1" strike="noStrike">
                <a:latin typeface="Arial"/>
              </a:rPr>
              <a:t>Seventh Outline Level</a:t>
            </a:r>
            <a:endParaRPr b="0" lang="en-US" sz="2000" spc="-1" strike="noStrike">
              <a:latin typeface="Arial"/>
            </a:endParaRPr>
          </a:p>
        </p:txBody>
      </p:sp>
      <p:sp>
        <p:nvSpPr>
          <p:cNvPr id="2" name="PlaceHolder 3"/>
          <p:cNvSpPr>
            <a:spLocks noGrp="1"/>
          </p:cNvSpPr>
          <p:nvPr>
            <p:ph type="dt" idx="1"/>
          </p:nvPr>
        </p:nvSpPr>
        <p:spPr>
          <a:xfrm>
            <a:off x="504000" y="5165280"/>
            <a:ext cx="2348280" cy="390600"/>
          </a:xfrm>
          <a:prstGeom prst="rect">
            <a:avLst/>
          </a:prstGeom>
          <a:noFill/>
          <a:ln w="0">
            <a:noFill/>
          </a:ln>
        </p:spPr>
        <p:txBody>
          <a:bodyPr lIns="0" rIns="0" tIns="0" bIns="0" anchor="t">
            <a:noAutofit/>
          </a:bodyPr>
          <a:lstStyle>
            <a:lvl1pPr>
              <a:defRPr b="0" lang="en-US" sz="1400" spc="-1" strike="noStrike">
                <a:latin typeface="Times New Roman"/>
              </a:defRPr>
            </a:lvl1pPr>
          </a:lstStyle>
          <a:p>
            <a:r>
              <a:rPr b="0" lang="en-US" sz="1400" spc="-1" strike="noStrike">
                <a:latin typeface="Times New Roman"/>
              </a:rPr>
              <a:t>&lt;date/time&gt;</a:t>
            </a:r>
            <a:endParaRPr b="0" lang="en-US" sz="1400" spc="-1" strike="noStrike">
              <a:latin typeface="Times New Roman"/>
            </a:endParaRPr>
          </a:p>
        </p:txBody>
      </p:sp>
      <p:sp>
        <p:nvSpPr>
          <p:cNvPr id="3" name="PlaceHolder 4"/>
          <p:cNvSpPr>
            <a:spLocks noGrp="1"/>
          </p:cNvSpPr>
          <p:nvPr>
            <p:ph type="ftr" idx="2"/>
          </p:nvPr>
        </p:nvSpPr>
        <p:spPr>
          <a:xfrm>
            <a:off x="3447360" y="5165280"/>
            <a:ext cx="3195000" cy="390600"/>
          </a:xfrm>
          <a:prstGeom prst="rect">
            <a:avLst/>
          </a:prstGeom>
          <a:noFill/>
          <a:ln w="0">
            <a:noFill/>
          </a:ln>
        </p:spPr>
        <p:txBody>
          <a:bodyPr lIns="0" rIns="0" tIns="0" bIns="0" anchor="t">
            <a:noAutofit/>
          </a:bodyPr>
          <a:lstStyle>
            <a:lvl1pPr algn="ctr">
              <a:buNone/>
              <a:defRPr b="0" lang="en-US" sz="1400" spc="-1" strike="noStrike">
                <a:latin typeface="Times New Roman"/>
              </a:defRPr>
            </a:lvl1pPr>
          </a:lstStyle>
          <a:p>
            <a:pPr algn="ctr">
              <a:buNone/>
            </a:pPr>
            <a:r>
              <a:rPr b="0" lang="en-US" sz="1400" spc="-1" strike="noStrike">
                <a:latin typeface="Times New Roman"/>
              </a:rPr>
              <a:t>&lt;footer&gt;</a:t>
            </a:r>
            <a:endParaRPr b="0" lang="en-US" sz="1400" spc="-1" strike="noStrike">
              <a:latin typeface="Times New Roman"/>
            </a:endParaRPr>
          </a:p>
        </p:txBody>
      </p:sp>
      <p:sp>
        <p:nvSpPr>
          <p:cNvPr id="4" name="PlaceHolder 5"/>
          <p:cNvSpPr>
            <a:spLocks noGrp="1"/>
          </p:cNvSpPr>
          <p:nvPr>
            <p:ph type="sldNum" idx="3"/>
          </p:nvPr>
        </p:nvSpPr>
        <p:spPr>
          <a:xfrm>
            <a:off x="7227360" y="5165280"/>
            <a:ext cx="2348280" cy="390600"/>
          </a:xfrm>
          <a:prstGeom prst="rect">
            <a:avLst/>
          </a:prstGeom>
          <a:noFill/>
          <a:ln w="0">
            <a:noFill/>
          </a:ln>
        </p:spPr>
        <p:txBody>
          <a:bodyPr lIns="0" rIns="0" tIns="0" bIns="0" anchor="t">
            <a:noAutofit/>
          </a:bodyPr>
          <a:lstStyle>
            <a:lvl1pPr algn="r">
              <a:buNone/>
              <a:defRPr b="0" lang="en-US" sz="1400" spc="-1" strike="noStrike">
                <a:latin typeface="Times New Roman"/>
              </a:defRPr>
            </a:lvl1pPr>
          </a:lstStyle>
          <a:p>
            <a:pPr algn="r">
              <a:buNone/>
            </a:pPr>
            <a:fld id="{EAE63D60-FB32-4A5A-8D48-7E9380B9BAED}" type="slidenum">
              <a:rPr b="0" lang="en-US" sz="1400" spc="-1" strike="noStrike">
                <a:latin typeface="Times New Roman"/>
              </a:rPr>
              <a:t>&lt;number&gt;</a:t>
            </a:fld>
            <a:endParaRPr b="0" lang="en-US" sz="1400" spc="-1" strike="noStrike">
              <a:latin typeface="Times New Roman"/>
            </a:endParaRPr>
          </a:p>
        </p:txBody>
      </p:sp>
    </p:spTree>
  </p:cSld>
  <p:clrMap bg1="lt1" bg2="lt2" tx1="dk1"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5.xml"/><Relationship Id="rId3"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5.xml"/><Relationship Id="rId3"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5.xml"/><Relationship Id="rId3"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5.xml"/><Relationship Id="rId3"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5.xml"/><Relationship Id="rId3"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5.xml"/><Relationship Id="rId3"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5.xml"/><Relationship Id="rId3"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5.xml"/><Relationship Id="rId3"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5.xml"/><Relationship Id="rId3" Type="http://schemas.openxmlformats.org/officeDocument/2006/relationships/notesSlide" Target="../notesSlides/notesSlide12.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 name="PlaceHolder 1"/>
          <p:cNvSpPr>
            <a:spLocks noGrp="1"/>
          </p:cNvSpPr>
          <p:nvPr>
            <p:ph type="title"/>
          </p:nvPr>
        </p:nvSpPr>
        <p:spPr>
          <a:xfrm>
            <a:off x="504000" y="226080"/>
            <a:ext cx="9071640" cy="946440"/>
          </a:xfrm>
          <a:prstGeom prst="rect">
            <a:avLst/>
          </a:prstGeom>
          <a:noFill/>
          <a:ln w="0">
            <a:noFill/>
          </a:ln>
        </p:spPr>
        <p:txBody>
          <a:bodyPr lIns="0" rIns="0" tIns="0" bIns="0" anchor="ctr">
            <a:noAutofit/>
          </a:bodyPr>
          <a:p>
            <a:pPr algn="ctr">
              <a:buNone/>
            </a:pPr>
            <a:r>
              <a:rPr b="0" lang="en-US" sz="4400" spc="-1" strike="noStrike">
                <a:solidFill>
                  <a:srgbClr val="1f4e79"/>
                </a:solidFill>
                <a:latin typeface="Arial"/>
              </a:rPr>
              <a:t>Hyperliquid in Five Minutes</a:t>
            </a:r>
            <a:endParaRPr b="0" lang="en-US" sz="4400" spc="-1" strike="noStrike">
              <a:latin typeface="Arial"/>
            </a:endParaRPr>
          </a:p>
        </p:txBody>
      </p:sp>
      <p:sp>
        <p:nvSpPr>
          <p:cNvPr id="48" name="PlaceHolder 2"/>
          <p:cNvSpPr>
            <a:spLocks noGrp="1"/>
          </p:cNvSpPr>
          <p:nvPr>
            <p:ph type="subTitle"/>
          </p:nvPr>
        </p:nvSpPr>
        <p:spPr>
          <a:xfrm>
            <a:off x="504000" y="1326600"/>
            <a:ext cx="9071640" cy="3288240"/>
          </a:xfrm>
          <a:prstGeom prst="rect">
            <a:avLst/>
          </a:prstGeom>
          <a:noFill/>
          <a:ln w="0">
            <a:noFill/>
          </a:ln>
        </p:spPr>
        <p:txBody>
          <a:bodyPr lIns="0" rIns="0" tIns="0" bIns="0" anchor="ctr">
            <a:noAutofit/>
          </a:bodyPr>
          <a:p>
            <a:pPr algn="ctr">
              <a:buNone/>
            </a:pPr>
            <a:r>
              <a:rPr b="0" lang="en-US" sz="3200" spc="-1" strike="noStrike">
                <a:solidFill>
                  <a:srgbClr val="222222"/>
                </a:solidFill>
                <a:latin typeface="Arial"/>
              </a:rPr>
              <a:t>An L1 where the order book is part of consensus</a:t>
            </a:r>
            <a:endParaRPr b="0" lang="en-US" sz="3200" spc="-1" strike="noStrike">
              <a:latin typeface="Arial"/>
            </a:endParaRPr>
          </a:p>
          <a:p>
            <a:pPr algn="ctr">
              <a:buNone/>
            </a:pPr>
            <a:r>
              <a:rPr b="0" lang="en-US" sz="3200" spc="-1" strike="noStrike">
                <a:solidFill>
                  <a:srgbClr val="222222"/>
                </a:solidFill>
                <a:latin typeface="Arial"/>
              </a:rPr>
              <a:t>Ryan Sauge - v1.0 - 2026-10-01</a:t>
            </a:r>
            <a:endParaRPr b="0" lang="en-US" sz="3200" spc="-1" strike="noStrike">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 name="PlaceHolder 1"/>
          <p:cNvSpPr>
            <a:spLocks noGrp="1"/>
          </p:cNvSpPr>
          <p:nvPr>
            <p:ph type="title"/>
          </p:nvPr>
        </p:nvSpPr>
        <p:spPr>
          <a:xfrm>
            <a:off x="504000" y="226080"/>
            <a:ext cx="9071640" cy="946440"/>
          </a:xfrm>
          <a:prstGeom prst="rect">
            <a:avLst/>
          </a:prstGeom>
          <a:noFill/>
          <a:ln w="0">
            <a:noFill/>
          </a:ln>
        </p:spPr>
        <p:txBody>
          <a:bodyPr lIns="0" rIns="0" tIns="0" bIns="0" anchor="ctr">
            <a:noAutofit/>
          </a:bodyPr>
          <a:p>
            <a:pPr algn="ctr">
              <a:buNone/>
            </a:pPr>
            <a:r>
              <a:rPr b="0" lang="en-US" sz="4400" spc="-1" strike="noStrike">
                <a:solidFill>
                  <a:srgbClr val="1f4e79"/>
                </a:solidFill>
                <a:latin typeface="Arial"/>
              </a:rPr>
              <a:t>What is Hyperliquid</a:t>
            </a:r>
            <a:endParaRPr b="0" lang="en-US" sz="4400" spc="-1" strike="noStrike">
              <a:latin typeface="Arial"/>
            </a:endParaRPr>
          </a:p>
        </p:txBody>
      </p:sp>
      <p:pic>
        <p:nvPicPr>
          <p:cNvPr id="50" name="Image1" descr="slide-01"/>
          <p:cNvPicPr/>
          <p:nvPr/>
        </p:nvPicPr>
        <p:blipFill>
          <a:blip r:embed="rId1"/>
          <a:stretch/>
        </p:blipFill>
        <p:spPr>
          <a:xfrm>
            <a:off x="3816000" y="1839960"/>
            <a:ext cx="5760000" cy="2997360"/>
          </a:xfrm>
          <a:prstGeom prst="rect">
            <a:avLst/>
          </a:prstGeom>
          <a:ln w="0">
            <a:noFill/>
          </a:ln>
        </p:spPr>
      </p:pic>
      <p:sp>
        <p:nvSpPr>
          <p:cNvPr id="51" name="Caption1"/>
          <p:cNvSpPr txBox="1"/>
          <p:nvPr/>
        </p:nvSpPr>
        <p:spPr>
          <a:xfrm>
            <a:off x="504000" y="1296000"/>
            <a:ext cx="3023640" cy="4086000"/>
          </a:xfrm>
          <a:prstGeom prst="rect">
            <a:avLst/>
          </a:prstGeom>
          <a:noFill/>
          <a:ln w="0">
            <a:noFill/>
          </a:ln>
        </p:spPr>
        <p:txBody>
          <a:bodyPr lIns="90000" rIns="90000" tIns="45000" bIns="45000" anchor="t">
            <a:noAutofit/>
          </a:bodyPr>
          <a:p>
            <a:r>
              <a:rPr b="0" lang="en-US" sz="2000" spc="-1" strike="noStrike">
                <a:solidFill>
                  <a:srgbClr val="222222"/>
                </a:solidFill>
                <a:latin typeface="Arial"/>
              </a:rPr>
              <a:t>• </a:t>
            </a:r>
            <a:r>
              <a:rPr b="0" lang="en-US" sz="2000" spc="-1" strike="noStrike">
                <a:solidFill>
                  <a:srgbClr val="222222"/>
                </a:solidFill>
                <a:latin typeface="Arial"/>
              </a:rPr>
              <a:t>A DEX for perpetual futures and spot, on its own chain</a:t>
            </a:r>
            <a:endParaRPr b="0" lang="en-US" sz="2000" spc="-1" strike="noStrike">
              <a:latin typeface="Arial"/>
            </a:endParaRPr>
          </a:p>
          <a:p>
            <a:r>
              <a:rPr b="0" lang="en-US" sz="2000" spc="-1" strike="noStrike">
                <a:solidFill>
                  <a:srgbClr val="222222"/>
                </a:solidFill>
                <a:latin typeface="Arial"/>
              </a:rPr>
              <a:t>• </a:t>
            </a:r>
            <a:r>
              <a:rPr b="0" lang="en-US" sz="2000" spc="-1" strike="noStrike">
                <a:solidFill>
                  <a:srgbClr val="222222"/>
                </a:solidFill>
                <a:latin typeface="Arial"/>
              </a:rPr>
              <a:t>Many DEXs keep the book off-chain, or use an AMM</a:t>
            </a:r>
            <a:endParaRPr b="0" lang="en-US" sz="2000" spc="-1" strike="noStrike">
              <a:latin typeface="Arial"/>
            </a:endParaRPr>
          </a:p>
          <a:p>
            <a:r>
              <a:rPr b="0" lang="en-US" sz="2000" spc="-1" strike="noStrike">
                <a:solidFill>
                  <a:srgbClr val="222222"/>
                </a:solidFill>
                <a:latin typeface="Arial"/>
              </a:rPr>
              <a:t>• </a:t>
            </a:r>
            <a:r>
              <a:rPr b="0" lang="en-US" sz="2000" spc="-1" strike="noStrike">
                <a:solidFill>
                  <a:srgbClr val="222222"/>
                </a:solidFill>
                <a:latin typeface="Arial"/>
              </a:rPr>
              <a:t>Here, order book, margin and liquidations are onchain state</a:t>
            </a:r>
            <a:endParaRPr b="0" lang="en-US" sz="2000" spc="-1" strike="noStrike">
              <a:latin typeface="Arial"/>
            </a:endParaRPr>
          </a:p>
          <a:p>
            <a:r>
              <a:rPr b="0" lang="en-US" sz="2000" spc="-1" strike="noStrike">
                <a:solidFill>
                  <a:srgbClr val="222222"/>
                </a:solidFill>
                <a:latin typeface="Arial"/>
              </a:rPr>
              <a:t>• </a:t>
            </a:r>
            <a:r>
              <a:rPr b="0" lang="en-US" sz="2000" spc="-1" strike="noStrike">
                <a:solidFill>
                  <a:srgbClr val="222222"/>
                </a:solidFill>
                <a:latin typeface="Arial"/>
              </a:rPr>
              <a:t>Question: what if the exchange is the chain itself?</a:t>
            </a:r>
            <a:endParaRPr b="0" lang="en-US" sz="2000" spc="-1" strike="noStrike">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 name="PlaceHolder 1"/>
          <p:cNvSpPr>
            <a:spLocks noGrp="1"/>
          </p:cNvSpPr>
          <p:nvPr>
            <p:ph type="title"/>
          </p:nvPr>
        </p:nvSpPr>
        <p:spPr>
          <a:xfrm>
            <a:off x="504000" y="226080"/>
            <a:ext cx="9071640" cy="946440"/>
          </a:xfrm>
          <a:prstGeom prst="rect">
            <a:avLst/>
          </a:prstGeom>
          <a:noFill/>
          <a:ln w="0">
            <a:noFill/>
          </a:ln>
        </p:spPr>
        <p:txBody>
          <a:bodyPr lIns="0" rIns="0" tIns="0" bIns="0" anchor="ctr">
            <a:noAutofit/>
          </a:bodyPr>
          <a:p>
            <a:pPr algn="ctr">
              <a:buNone/>
            </a:pPr>
            <a:r>
              <a:rPr b="0" lang="en-US" sz="4400" spc="-1" strike="noStrike">
                <a:solidFill>
                  <a:srgbClr val="1f4e79"/>
                </a:solidFill>
                <a:latin typeface="Arial"/>
              </a:rPr>
              <a:t>Architecture: one consensus</a:t>
            </a:r>
            <a:endParaRPr b="0" lang="en-US" sz="4400" spc="-1" strike="noStrike">
              <a:latin typeface="Arial"/>
            </a:endParaRPr>
          </a:p>
        </p:txBody>
      </p:sp>
      <p:pic>
        <p:nvPicPr>
          <p:cNvPr id="53" name="Image2" descr="slide-02"/>
          <p:cNvPicPr/>
          <p:nvPr/>
        </p:nvPicPr>
        <p:blipFill>
          <a:blip r:embed="rId1"/>
          <a:stretch/>
        </p:blipFill>
        <p:spPr>
          <a:xfrm>
            <a:off x="5149800" y="1449000"/>
            <a:ext cx="4425840" cy="3780000"/>
          </a:xfrm>
          <a:prstGeom prst="rect">
            <a:avLst/>
          </a:prstGeom>
          <a:ln w="0">
            <a:noFill/>
          </a:ln>
        </p:spPr>
      </p:pic>
      <p:sp>
        <p:nvSpPr>
          <p:cNvPr id="54" name="Caption2"/>
          <p:cNvSpPr txBox="1"/>
          <p:nvPr/>
        </p:nvSpPr>
        <p:spPr>
          <a:xfrm>
            <a:off x="504000" y="1296000"/>
            <a:ext cx="4357800" cy="4086000"/>
          </a:xfrm>
          <a:prstGeom prst="rect">
            <a:avLst/>
          </a:prstGeom>
          <a:noFill/>
          <a:ln w="0">
            <a:noFill/>
          </a:ln>
        </p:spPr>
        <p:txBody>
          <a:bodyPr lIns="90000" rIns="90000" tIns="45000" bIns="45000" anchor="t">
            <a:noAutofit/>
          </a:bodyPr>
          <a:p>
            <a:r>
              <a:rPr b="0" lang="en-US" sz="2000" spc="-1" strike="noStrike">
                <a:solidFill>
                  <a:srgbClr val="222222"/>
                </a:solidFill>
                <a:latin typeface="Arial"/>
              </a:rPr>
              <a:t>• </a:t>
            </a:r>
            <a:r>
              <a:rPr b="0" lang="en-US" sz="2000" spc="-1" strike="noStrike">
                <a:solidFill>
                  <a:srgbClr val="222222"/>
                </a:solidFill>
                <a:latin typeface="Arial"/>
              </a:rPr>
              <a:t>HyperBFT: a block is final with 2/3 of staked HYPE</a:t>
            </a:r>
            <a:endParaRPr b="0" lang="en-US" sz="2000" spc="-1" strike="noStrike">
              <a:latin typeface="Arial"/>
            </a:endParaRPr>
          </a:p>
          <a:p>
            <a:r>
              <a:rPr b="0" lang="en-US" sz="2000" spc="-1" strike="noStrike">
                <a:solidFill>
                  <a:srgbClr val="222222"/>
                </a:solidFill>
                <a:latin typeface="Arial"/>
              </a:rPr>
              <a:t>• </a:t>
            </a:r>
            <a:r>
              <a:rPr b="0" lang="en-US" sz="2000" spc="-1" strike="noStrike">
                <a:solidFill>
                  <a:srgbClr val="222222"/>
                </a:solidFill>
                <a:latin typeface="Arial"/>
              </a:rPr>
              <a:t>HyperCore: order books, clearinghouses, oracle, staking</a:t>
            </a:r>
            <a:endParaRPr b="0" lang="en-US" sz="2000" spc="-1" strike="noStrike">
              <a:latin typeface="Arial"/>
            </a:endParaRPr>
          </a:p>
          <a:p>
            <a:r>
              <a:rPr b="0" lang="en-US" sz="2000" spc="-1" strike="noStrike">
                <a:solidFill>
                  <a:srgbClr val="222222"/>
                </a:solidFill>
                <a:latin typeface="Arial"/>
              </a:rPr>
              <a:t>• </a:t>
            </a:r>
            <a:r>
              <a:rPr b="0" lang="en-US" sz="2000" spc="-1" strike="noStrike">
                <a:solidFill>
                  <a:srgbClr val="222222"/>
                </a:solidFill>
                <a:latin typeface="Arial"/>
              </a:rPr>
              <a:t>HyperEVM: a regular EVM, chain ID 999</a:t>
            </a:r>
            <a:endParaRPr b="0" lang="en-US" sz="2000" spc="-1" strike="noStrike">
              <a:latin typeface="Arial"/>
            </a:endParaRPr>
          </a:p>
          <a:p>
            <a:r>
              <a:rPr b="0" lang="en-US" sz="2000" spc="-1" strike="noStrike">
                <a:solidFill>
                  <a:srgbClr val="222222"/>
                </a:solidFill>
                <a:latin typeface="Arial"/>
              </a:rPr>
              <a:t>• </a:t>
            </a:r>
            <a:r>
              <a:rPr b="0" lang="en-US" sz="2000" spc="-1" strike="noStrike">
                <a:solidFill>
                  <a:srgbClr val="222222"/>
                </a:solidFill>
                <a:latin typeface="Arial"/>
              </a:rPr>
              <a:t>Same consensus, no bridge between the two</a:t>
            </a:r>
            <a:endParaRPr b="0" lang="en-US" sz="2000" spc="-1" strike="noStrike">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 name="PlaceHolder 1"/>
          <p:cNvSpPr>
            <a:spLocks noGrp="1"/>
          </p:cNvSpPr>
          <p:nvPr>
            <p:ph type="title"/>
          </p:nvPr>
        </p:nvSpPr>
        <p:spPr>
          <a:xfrm>
            <a:off x="504000" y="226080"/>
            <a:ext cx="9071640" cy="946440"/>
          </a:xfrm>
          <a:prstGeom prst="rect">
            <a:avLst/>
          </a:prstGeom>
          <a:noFill/>
          <a:ln w="0">
            <a:noFill/>
          </a:ln>
        </p:spPr>
        <p:txBody>
          <a:bodyPr lIns="0" rIns="0" tIns="0" bIns="0" anchor="ctr">
            <a:noAutofit/>
          </a:bodyPr>
          <a:p>
            <a:pPr algn="ctr">
              <a:buNone/>
            </a:pPr>
            <a:r>
              <a:rPr b="0" lang="en-US" sz="4400" spc="-1" strike="noStrike">
                <a:solidFill>
                  <a:srgbClr val="1f4e79"/>
                </a:solidFill>
                <a:latin typeface="Arial"/>
              </a:rPr>
              <a:t>The life of an order</a:t>
            </a:r>
            <a:endParaRPr b="0" lang="en-US" sz="4400" spc="-1" strike="noStrike">
              <a:latin typeface="Arial"/>
            </a:endParaRPr>
          </a:p>
        </p:txBody>
      </p:sp>
      <p:pic>
        <p:nvPicPr>
          <p:cNvPr id="56" name="Image3" descr="slide-03"/>
          <p:cNvPicPr/>
          <p:nvPr/>
        </p:nvPicPr>
        <p:blipFill>
          <a:blip r:embed="rId1"/>
          <a:stretch/>
        </p:blipFill>
        <p:spPr>
          <a:xfrm>
            <a:off x="504000" y="1296000"/>
            <a:ext cx="9072000" cy="1087560"/>
          </a:xfrm>
          <a:prstGeom prst="rect">
            <a:avLst/>
          </a:prstGeom>
          <a:ln w="0">
            <a:noFill/>
          </a:ln>
        </p:spPr>
      </p:pic>
      <p:sp>
        <p:nvSpPr>
          <p:cNvPr id="57" name="Caption3"/>
          <p:cNvSpPr txBox="1"/>
          <p:nvPr/>
        </p:nvSpPr>
        <p:spPr>
          <a:xfrm>
            <a:off x="504000" y="2563560"/>
            <a:ext cx="9072000" cy="2818080"/>
          </a:xfrm>
          <a:prstGeom prst="rect">
            <a:avLst/>
          </a:prstGeom>
          <a:noFill/>
          <a:ln w="0">
            <a:noFill/>
          </a:ln>
        </p:spPr>
        <p:txBody>
          <a:bodyPr lIns="90000" rIns="90000" tIns="45000" bIns="45000" anchor="t">
            <a:noAutofit/>
          </a:bodyPr>
          <a:p>
            <a:r>
              <a:rPr b="0" lang="en-US" sz="2000" spc="-1" strike="noStrike">
                <a:solidFill>
                  <a:srgbClr val="222222"/>
                </a:solidFill>
                <a:latin typeface="Arial"/>
              </a:rPr>
              <a:t>• </a:t>
            </a:r>
            <a:r>
              <a:rPr b="0" lang="en-US" sz="2000" spc="-1" strike="noStrike">
                <a:solidFill>
                  <a:srgbClr val="222222"/>
                </a:solidFill>
                <a:latin typeface="Arial"/>
              </a:rPr>
              <a:t>Inside a block, actions run in three groups:</a:t>
            </a:r>
            <a:endParaRPr b="0" lang="en-US" sz="2000" spc="-1" strike="noStrike">
              <a:latin typeface="Arial"/>
            </a:endParaRPr>
          </a:p>
          <a:p>
            <a:r>
              <a:rPr b="0" lang="en-US" sz="2000" spc="-1" strike="noStrike">
                <a:solidFill>
                  <a:srgbClr val="222222"/>
                </a:solidFill>
                <a:latin typeface="Arial"/>
              </a:rPr>
              <a:t>    – </a:t>
            </a:r>
            <a:r>
              <a:rPr b="0" lang="en-US" sz="2000" spc="-1" strike="noStrike">
                <a:solidFill>
                  <a:srgbClr val="222222"/>
                </a:solidFill>
                <a:latin typeface="Arial"/>
              </a:rPr>
              <a:t>Orders that take no liquidity (post-only)</a:t>
            </a:r>
            <a:endParaRPr b="0" lang="en-US" sz="2000" spc="-1" strike="noStrike">
              <a:latin typeface="Arial"/>
            </a:endParaRPr>
          </a:p>
          <a:p>
            <a:r>
              <a:rPr b="0" lang="en-US" sz="2000" spc="-1" strike="noStrike">
                <a:solidFill>
                  <a:srgbClr val="222222"/>
                </a:solidFill>
                <a:latin typeface="Arial"/>
              </a:rPr>
              <a:t>    – </a:t>
            </a:r>
            <a:r>
              <a:rPr b="0" lang="en-US" sz="2000" spc="-1" strike="noStrike">
                <a:solidFill>
                  <a:srgbClr val="222222"/>
                </a:solidFill>
                <a:latin typeface="Arial"/>
              </a:rPr>
              <a:t>Cancels</a:t>
            </a:r>
            <a:endParaRPr b="0" lang="en-US" sz="2000" spc="-1" strike="noStrike">
              <a:latin typeface="Arial"/>
            </a:endParaRPr>
          </a:p>
          <a:p>
            <a:r>
              <a:rPr b="0" lang="en-US" sz="2000" spc="-1" strike="noStrike">
                <a:solidFill>
                  <a:srgbClr val="222222"/>
                </a:solidFill>
                <a:latin typeface="Arial"/>
              </a:rPr>
              <a:t>    – </a:t>
            </a:r>
            <a:r>
              <a:rPr b="0" lang="en-US" sz="2000" spc="-1" strike="noStrike">
                <a:solidFill>
                  <a:srgbClr val="222222"/>
                </a:solidFill>
                <a:latin typeface="Arial"/>
              </a:rPr>
              <a:t>Orders that take liquidity (GTC, IOC)</a:t>
            </a:r>
            <a:endParaRPr b="0" lang="en-US" sz="2000" spc="-1" strike="noStrike">
              <a:latin typeface="Arial"/>
            </a:endParaRPr>
          </a:p>
          <a:p>
            <a:r>
              <a:rPr b="0" lang="en-US" sz="2000" spc="-1" strike="noStrike">
                <a:solidFill>
                  <a:srgbClr val="222222"/>
                </a:solidFill>
                <a:latin typeface="Arial"/>
              </a:rPr>
              <a:t>• </a:t>
            </a:r>
            <a:r>
              <a:rPr b="0" lang="en-US" sz="2000" spc="-1" strike="noStrike">
                <a:solidFill>
                  <a:srgbClr val="222222"/>
                </a:solidFill>
                <a:latin typeface="Arial"/>
              </a:rPr>
              <a:t>Margin is checked at placement and again at each match</a:t>
            </a:r>
            <a:endParaRPr b="0" lang="en-US" sz="2000" spc="-1" strike="noStrike">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 name="PlaceHolder 1"/>
          <p:cNvSpPr>
            <a:spLocks noGrp="1"/>
          </p:cNvSpPr>
          <p:nvPr>
            <p:ph type="title"/>
          </p:nvPr>
        </p:nvSpPr>
        <p:spPr>
          <a:xfrm>
            <a:off x="504000" y="226080"/>
            <a:ext cx="9071640" cy="946440"/>
          </a:xfrm>
          <a:prstGeom prst="rect">
            <a:avLst/>
          </a:prstGeom>
          <a:noFill/>
          <a:ln w="0">
            <a:noFill/>
          </a:ln>
        </p:spPr>
        <p:txBody>
          <a:bodyPr lIns="0" rIns="0" tIns="0" bIns="0" anchor="ctr">
            <a:noAutofit/>
          </a:bodyPr>
          <a:p>
            <a:pPr algn="ctr">
              <a:buNone/>
            </a:pPr>
            <a:r>
              <a:rPr b="0" lang="en-US" sz="4400" spc="-1" strike="noStrike">
                <a:solidFill>
                  <a:srgbClr val="1f4e79"/>
                </a:solidFill>
                <a:latin typeface="Arial"/>
              </a:rPr>
              <a:t>Prices: oracle and mark</a:t>
            </a:r>
            <a:endParaRPr b="0" lang="en-US" sz="4400" spc="-1" strike="noStrike">
              <a:latin typeface="Arial"/>
            </a:endParaRPr>
          </a:p>
        </p:txBody>
      </p:sp>
      <p:pic>
        <p:nvPicPr>
          <p:cNvPr id="59" name="Image4" descr="slide-04"/>
          <p:cNvPicPr/>
          <p:nvPr/>
        </p:nvPicPr>
        <p:blipFill>
          <a:blip r:embed="rId1"/>
          <a:stretch/>
        </p:blipFill>
        <p:spPr>
          <a:xfrm>
            <a:off x="504000" y="1296000"/>
            <a:ext cx="9072000" cy="2438640"/>
          </a:xfrm>
          <a:prstGeom prst="rect">
            <a:avLst/>
          </a:prstGeom>
          <a:ln w="0">
            <a:noFill/>
          </a:ln>
        </p:spPr>
      </p:pic>
      <p:sp>
        <p:nvSpPr>
          <p:cNvPr id="60" name="Caption4"/>
          <p:cNvSpPr txBox="1"/>
          <p:nvPr/>
        </p:nvSpPr>
        <p:spPr>
          <a:xfrm>
            <a:off x="504000" y="3914640"/>
            <a:ext cx="9072000" cy="1467000"/>
          </a:xfrm>
          <a:prstGeom prst="rect">
            <a:avLst/>
          </a:prstGeom>
          <a:noFill/>
          <a:ln w="0">
            <a:noFill/>
          </a:ln>
        </p:spPr>
        <p:txBody>
          <a:bodyPr lIns="90000" rIns="90000" tIns="45000" bIns="45000" anchor="t">
            <a:noAutofit/>
          </a:bodyPr>
          <a:p>
            <a:r>
              <a:rPr b="0" lang="en-US" sz="2000" spc="-1" strike="noStrike">
                <a:solidFill>
                  <a:srgbClr val="222222"/>
                </a:solidFill>
                <a:latin typeface="Arial"/>
              </a:rPr>
              <a:t>• </a:t>
            </a:r>
            <a:r>
              <a:rPr b="0" lang="en-US" sz="2000" spc="-1" strike="noStrike">
                <a:solidFill>
                  <a:srgbClr val="222222"/>
                </a:solidFill>
                <a:latin typeface="Arial"/>
              </a:rPr>
              <a:t>Oracle: two medians, every ~3 s, used for funding</a:t>
            </a:r>
            <a:endParaRPr b="0" lang="en-US" sz="2000" spc="-1" strike="noStrike">
              <a:latin typeface="Arial"/>
            </a:endParaRPr>
          </a:p>
          <a:p>
            <a:r>
              <a:rPr b="0" lang="en-US" sz="2000" spc="-1" strike="noStrike">
                <a:solidFill>
                  <a:srgbClr val="222222"/>
                </a:solidFill>
                <a:latin typeface="Arial"/>
              </a:rPr>
              <a:t>• </a:t>
            </a:r>
            <a:r>
              <a:rPr b="0" lang="en-US" sz="2000" spc="-1" strike="noStrike">
                <a:solidFill>
                  <a:srgbClr val="222222"/>
                </a:solidFill>
                <a:latin typeface="Arial"/>
              </a:rPr>
              <a:t>Mark: median of 3 indices, used for margin and liquidation</a:t>
            </a:r>
            <a:endParaRPr b="0" lang="en-US" sz="2000" spc="-1" strike="noStrike">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1" name="PlaceHolder 1"/>
          <p:cNvSpPr>
            <a:spLocks noGrp="1"/>
          </p:cNvSpPr>
          <p:nvPr>
            <p:ph type="title"/>
          </p:nvPr>
        </p:nvSpPr>
        <p:spPr>
          <a:xfrm>
            <a:off x="504000" y="226080"/>
            <a:ext cx="9071640" cy="946440"/>
          </a:xfrm>
          <a:prstGeom prst="rect">
            <a:avLst/>
          </a:prstGeom>
          <a:noFill/>
          <a:ln w="0">
            <a:noFill/>
          </a:ln>
        </p:spPr>
        <p:txBody>
          <a:bodyPr lIns="0" rIns="0" tIns="0" bIns="0" anchor="ctr">
            <a:noAutofit/>
          </a:bodyPr>
          <a:p>
            <a:pPr algn="ctr">
              <a:buNone/>
            </a:pPr>
            <a:r>
              <a:rPr b="0" lang="en-US" sz="4400" spc="-1" strike="noStrike">
                <a:solidFill>
                  <a:srgbClr val="1f4e79"/>
                </a:solidFill>
                <a:latin typeface="Arial"/>
              </a:rPr>
              <a:t>Liquidation: on the order book</a:t>
            </a:r>
            <a:endParaRPr b="0" lang="en-US" sz="4400" spc="-1" strike="noStrike">
              <a:latin typeface="Arial"/>
            </a:endParaRPr>
          </a:p>
        </p:txBody>
      </p:sp>
      <p:pic>
        <p:nvPicPr>
          <p:cNvPr id="62" name="Image5" descr="slide-05"/>
          <p:cNvPicPr/>
          <p:nvPr/>
        </p:nvPicPr>
        <p:blipFill>
          <a:blip r:embed="rId1"/>
          <a:stretch/>
        </p:blipFill>
        <p:spPr>
          <a:xfrm>
            <a:off x="504000" y="1296000"/>
            <a:ext cx="9072000" cy="2383560"/>
          </a:xfrm>
          <a:prstGeom prst="rect">
            <a:avLst/>
          </a:prstGeom>
          <a:ln w="0">
            <a:noFill/>
          </a:ln>
        </p:spPr>
      </p:pic>
      <p:sp>
        <p:nvSpPr>
          <p:cNvPr id="63" name="Caption5"/>
          <p:cNvSpPr txBox="1"/>
          <p:nvPr/>
        </p:nvSpPr>
        <p:spPr>
          <a:xfrm>
            <a:off x="504000" y="3859560"/>
            <a:ext cx="9072000" cy="1522080"/>
          </a:xfrm>
          <a:prstGeom prst="rect">
            <a:avLst/>
          </a:prstGeom>
          <a:noFill/>
          <a:ln w="0">
            <a:noFill/>
          </a:ln>
        </p:spPr>
        <p:txBody>
          <a:bodyPr lIns="90000" rIns="90000" tIns="45000" bIns="45000" anchor="t">
            <a:noAutofit/>
          </a:bodyPr>
          <a:p>
            <a:r>
              <a:rPr b="0" lang="en-US" sz="2000" spc="-1" strike="noStrike">
                <a:solidFill>
                  <a:srgbClr val="222222"/>
                </a:solidFill>
                <a:latin typeface="Arial"/>
              </a:rPr>
              <a:t>• </a:t>
            </a:r>
            <a:r>
              <a:rPr b="0" lang="en-US" sz="2000" spc="-1" strike="noStrike">
                <a:solidFill>
                  <a:srgbClr val="222222"/>
                </a:solidFill>
                <a:latin typeface="Arial"/>
              </a:rPr>
              <a:t>Anyone can take the other side of the liquidation orders</a:t>
            </a:r>
            <a:endParaRPr b="0" lang="en-US" sz="2000" spc="-1" strike="noStrike">
              <a:latin typeface="Arial"/>
            </a:endParaRPr>
          </a:p>
          <a:p>
            <a:r>
              <a:rPr b="0" lang="en-US" sz="2000" spc="-1" strike="noStrike">
                <a:solidFill>
                  <a:srgbClr val="222222"/>
                </a:solidFill>
                <a:latin typeface="Arial"/>
              </a:rPr>
              <a:t>• </a:t>
            </a:r>
            <a:r>
              <a:rPr b="0" lang="en-US" sz="2000" spc="-1" strike="noStrike">
                <a:solidFill>
                  <a:srgbClr val="222222"/>
                </a:solidFill>
                <a:latin typeface="Arial"/>
              </a:rPr>
              <a:t>Above 100 000 USDC: 20% at a time, then a 30 s cooldown</a:t>
            </a:r>
            <a:endParaRPr b="0" lang="en-US" sz="2000" spc="-1" strike="noStrike">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4" name="PlaceHolder 1"/>
          <p:cNvSpPr>
            <a:spLocks noGrp="1"/>
          </p:cNvSpPr>
          <p:nvPr>
            <p:ph type="title"/>
          </p:nvPr>
        </p:nvSpPr>
        <p:spPr>
          <a:xfrm>
            <a:off x="504000" y="226080"/>
            <a:ext cx="9071640" cy="946440"/>
          </a:xfrm>
          <a:prstGeom prst="rect">
            <a:avLst/>
          </a:prstGeom>
          <a:noFill/>
          <a:ln w="0">
            <a:noFill/>
          </a:ln>
        </p:spPr>
        <p:txBody>
          <a:bodyPr lIns="0" rIns="0" tIns="0" bIns="0" anchor="ctr">
            <a:noAutofit/>
          </a:bodyPr>
          <a:p>
            <a:pPr algn="ctr">
              <a:buNone/>
            </a:pPr>
            <a:r>
              <a:rPr b="0" lang="en-US" sz="4400" spc="-1" strike="noStrike">
                <a:solidFill>
                  <a:srgbClr val="1f4e79"/>
                </a:solidFill>
                <a:latin typeface="Arial"/>
              </a:rPr>
              <a:t>Liquidation: backstop and ADL</a:t>
            </a:r>
            <a:endParaRPr b="0" lang="en-US" sz="4400" spc="-1" strike="noStrike">
              <a:latin typeface="Arial"/>
            </a:endParaRPr>
          </a:p>
        </p:txBody>
      </p:sp>
      <p:pic>
        <p:nvPicPr>
          <p:cNvPr id="65" name="Image6" descr="slide-06"/>
          <p:cNvPicPr/>
          <p:nvPr/>
        </p:nvPicPr>
        <p:blipFill>
          <a:blip r:embed="rId1"/>
          <a:stretch/>
        </p:blipFill>
        <p:spPr>
          <a:xfrm>
            <a:off x="504000" y="1296000"/>
            <a:ext cx="9072000" cy="2233080"/>
          </a:xfrm>
          <a:prstGeom prst="rect">
            <a:avLst/>
          </a:prstGeom>
          <a:ln w="0">
            <a:noFill/>
          </a:ln>
        </p:spPr>
      </p:pic>
      <p:sp>
        <p:nvSpPr>
          <p:cNvPr id="66" name="Caption6"/>
          <p:cNvSpPr txBox="1"/>
          <p:nvPr/>
        </p:nvSpPr>
        <p:spPr>
          <a:xfrm>
            <a:off x="504000" y="3709080"/>
            <a:ext cx="9072000" cy="1672560"/>
          </a:xfrm>
          <a:prstGeom prst="rect">
            <a:avLst/>
          </a:prstGeom>
          <a:noFill/>
          <a:ln w="0">
            <a:noFill/>
          </a:ln>
        </p:spPr>
        <p:txBody>
          <a:bodyPr lIns="90000" rIns="90000" tIns="45000" bIns="45000" anchor="t">
            <a:noAutofit/>
          </a:bodyPr>
          <a:p>
            <a:r>
              <a:rPr b="0" lang="en-US" sz="2000" spc="-1" strike="noStrike">
                <a:solidFill>
                  <a:srgbClr val="222222"/>
                </a:solidFill>
                <a:latin typeface="Arial"/>
              </a:rPr>
              <a:t>• </a:t>
            </a:r>
            <a:r>
              <a:rPr b="0" lang="en-US" sz="2000" spc="-1" strike="noStrike">
                <a:solidFill>
                  <a:srgbClr val="222222"/>
                </a:solidFill>
                <a:latin typeface="Arial"/>
              </a:rPr>
              <a:t>Auto-deleveraging (ADL) closes the most profitable, most levered opposite positions first</a:t>
            </a:r>
            <a:endParaRPr b="0" lang="en-US" sz="2000" spc="-1" strike="noStrike">
              <a:latin typeface="Arial"/>
            </a:endParaRPr>
          </a:p>
          <a:p>
            <a:r>
              <a:rPr b="0" lang="en-US" sz="2000" spc="-1" strike="noStrike">
                <a:solidFill>
                  <a:srgbClr val="222222"/>
                </a:solidFill>
                <a:latin typeface="Arial"/>
              </a:rPr>
              <a:t>• </a:t>
            </a:r>
            <a:r>
              <a:rPr b="0" lang="en-US" sz="2000" spc="-1" strike="noStrike">
                <a:solidFill>
                  <a:srgbClr val="222222"/>
                </a:solidFill>
                <a:latin typeface="Arial"/>
              </a:rPr>
              <a:t>A user with no open position never pays for platform losses</a:t>
            </a:r>
            <a:endParaRPr b="0" lang="en-US" sz="2000" spc="-1" strike="noStrike">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 name="PlaceHolder 1"/>
          <p:cNvSpPr>
            <a:spLocks noGrp="1"/>
          </p:cNvSpPr>
          <p:nvPr>
            <p:ph type="title"/>
          </p:nvPr>
        </p:nvSpPr>
        <p:spPr>
          <a:xfrm>
            <a:off x="504000" y="226080"/>
            <a:ext cx="9071640" cy="946440"/>
          </a:xfrm>
          <a:prstGeom prst="rect">
            <a:avLst/>
          </a:prstGeom>
          <a:noFill/>
          <a:ln w="0">
            <a:noFill/>
          </a:ln>
        </p:spPr>
        <p:txBody>
          <a:bodyPr lIns="0" rIns="0" tIns="0" bIns="0" anchor="ctr">
            <a:noAutofit/>
          </a:bodyPr>
          <a:p>
            <a:pPr algn="ctr">
              <a:buNone/>
            </a:pPr>
            <a:r>
              <a:rPr b="0" lang="en-US" sz="4400" spc="-1" strike="noStrike">
                <a:solidFill>
                  <a:srgbClr val="1f4e79"/>
                </a:solidFill>
                <a:latin typeface="Arial"/>
              </a:rPr>
              <a:t>HyperEVM and HyperCore</a:t>
            </a:r>
            <a:endParaRPr b="0" lang="en-US" sz="4400" spc="-1" strike="noStrike">
              <a:latin typeface="Arial"/>
            </a:endParaRPr>
          </a:p>
        </p:txBody>
      </p:sp>
      <p:pic>
        <p:nvPicPr>
          <p:cNvPr id="68" name="Image7" descr="slide-07"/>
          <p:cNvPicPr/>
          <p:nvPr/>
        </p:nvPicPr>
        <p:blipFill>
          <a:blip r:embed="rId1"/>
          <a:stretch/>
        </p:blipFill>
        <p:spPr>
          <a:xfrm>
            <a:off x="3816000" y="1841040"/>
            <a:ext cx="5760000" cy="2995560"/>
          </a:xfrm>
          <a:prstGeom prst="rect">
            <a:avLst/>
          </a:prstGeom>
          <a:ln w="0">
            <a:noFill/>
          </a:ln>
        </p:spPr>
      </p:pic>
      <p:sp>
        <p:nvSpPr>
          <p:cNvPr id="69" name="Caption7"/>
          <p:cNvSpPr txBox="1"/>
          <p:nvPr/>
        </p:nvSpPr>
        <p:spPr>
          <a:xfrm>
            <a:off x="504000" y="1296000"/>
            <a:ext cx="3023640" cy="4086000"/>
          </a:xfrm>
          <a:prstGeom prst="rect">
            <a:avLst/>
          </a:prstGeom>
          <a:noFill/>
          <a:ln w="0">
            <a:noFill/>
          </a:ln>
        </p:spPr>
        <p:txBody>
          <a:bodyPr lIns="90000" rIns="90000" tIns="45000" bIns="45000" anchor="t">
            <a:noAutofit/>
          </a:bodyPr>
          <a:p>
            <a:r>
              <a:rPr b="0" lang="en-US" sz="2000" spc="-1" strike="noStrike">
                <a:solidFill>
                  <a:srgbClr val="222222"/>
                </a:solidFill>
                <a:latin typeface="Arial"/>
              </a:rPr>
              <a:t>• </a:t>
            </a:r>
            <a:r>
              <a:rPr b="0" lang="en-US" sz="2000" spc="-1" strike="noStrike">
                <a:solidFill>
                  <a:srgbClr val="222222"/>
                </a:solidFill>
                <a:latin typeface="Arial"/>
              </a:rPr>
              <a:t>Read: values match HyperCore when the EVM block was built</a:t>
            </a:r>
            <a:endParaRPr b="0" lang="en-US" sz="2000" spc="-1" strike="noStrike">
              <a:latin typeface="Arial"/>
            </a:endParaRPr>
          </a:p>
          <a:p>
            <a:r>
              <a:rPr b="0" lang="en-US" sz="2000" spc="-1" strike="noStrike">
                <a:solidFill>
                  <a:srgbClr val="222222"/>
                </a:solidFill>
                <a:latin typeface="Arial"/>
              </a:rPr>
              <a:t>• </a:t>
            </a:r>
            <a:r>
              <a:rPr b="0" lang="en-US" sz="2000" spc="-1" strike="noStrike">
                <a:solidFill>
                  <a:srgbClr val="222222"/>
                </a:solidFill>
                <a:latin typeface="Arial"/>
              </a:rPr>
              <a:t>Write: CoreWriter orders are delayed by a few seconds</a:t>
            </a:r>
            <a:endParaRPr b="0" lang="en-US" sz="2000" spc="-1" strike="noStrike">
              <a:latin typeface="Arial"/>
            </a:endParaRPr>
          </a:p>
          <a:p>
            <a:r>
              <a:rPr b="0" lang="en-US" sz="2000" spc="-1" strike="noStrike">
                <a:solidFill>
                  <a:srgbClr val="222222"/>
                </a:solidFill>
                <a:latin typeface="Arial"/>
              </a:rPr>
              <a:t>• </a:t>
            </a:r>
            <a:r>
              <a:rPr b="0" lang="en-US" sz="2000" spc="-1" strike="noStrike">
                <a:solidFill>
                  <a:srgbClr val="222222"/>
                </a:solidFill>
                <a:latin typeface="Arial"/>
              </a:rPr>
              <a:t>Small blocks every second (3M gas)</a:t>
            </a:r>
            <a:endParaRPr b="0" lang="en-US" sz="2000" spc="-1" strike="noStrike">
              <a:latin typeface="Arial"/>
            </a:endParaRPr>
          </a:p>
          <a:p>
            <a:r>
              <a:rPr b="0" lang="en-US" sz="2000" spc="-1" strike="noStrike">
                <a:solidFill>
                  <a:srgbClr val="222222"/>
                </a:solidFill>
                <a:latin typeface="Arial"/>
              </a:rPr>
              <a:t>• </a:t>
            </a:r>
            <a:r>
              <a:rPr b="0" lang="en-US" sz="2000" spc="-1" strike="noStrike">
                <a:solidFill>
                  <a:srgbClr val="222222"/>
                </a:solidFill>
                <a:latin typeface="Arial"/>
              </a:rPr>
              <a:t>Big blocks every minute (30M gas)</a:t>
            </a:r>
            <a:endParaRPr b="0" lang="en-US" sz="2000" spc="-1" strike="noStrike">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0" name="PlaceHolder 1"/>
          <p:cNvSpPr>
            <a:spLocks noGrp="1"/>
          </p:cNvSpPr>
          <p:nvPr>
            <p:ph type="title"/>
          </p:nvPr>
        </p:nvSpPr>
        <p:spPr>
          <a:xfrm>
            <a:off x="504000" y="226080"/>
            <a:ext cx="9071640" cy="946440"/>
          </a:xfrm>
          <a:prstGeom prst="rect">
            <a:avLst/>
          </a:prstGeom>
          <a:noFill/>
          <a:ln w="0">
            <a:noFill/>
          </a:ln>
        </p:spPr>
        <p:txBody>
          <a:bodyPr lIns="0" rIns="0" tIns="0" bIns="0" anchor="ctr">
            <a:noAutofit/>
          </a:bodyPr>
          <a:p>
            <a:pPr algn="ctr">
              <a:buNone/>
            </a:pPr>
            <a:r>
              <a:rPr b="0" lang="en-US" sz="4400" spc="-1" strike="noStrike">
                <a:solidFill>
                  <a:srgbClr val="1f4e79"/>
                </a:solidFill>
                <a:latin typeface="Arial"/>
              </a:rPr>
              <a:t>The HIP standards</a:t>
            </a:r>
            <a:endParaRPr b="0" lang="en-US" sz="4400" spc="-1" strike="noStrike">
              <a:latin typeface="Arial"/>
            </a:endParaRPr>
          </a:p>
        </p:txBody>
      </p:sp>
      <p:graphicFrame>
        <p:nvGraphicFramePr>
          <p:cNvPr id="71" name="Table8"/>
          <p:cNvGraphicFramePr/>
          <p:nvPr/>
        </p:nvGraphicFramePr>
        <p:xfrm>
          <a:off x="504000" y="1296000"/>
          <a:ext cx="9071640" cy="3305880"/>
        </p:xfrm>
        <a:graphic>
          <a:graphicData uri="http://schemas.openxmlformats.org/drawingml/2006/table">
            <a:tbl>
              <a:tblPr/>
              <a:tblGrid>
                <a:gridCol w="4536000"/>
                <a:gridCol w="4536000"/>
              </a:tblGrid>
              <a:tr h="612000">
                <a:tc>
                  <a:txBody>
                    <a:bodyPr lIns="90000" rIns="90000" tIns="45000" bIns="45000" anchor="t">
                      <a:noAutofit/>
                    </a:bodyPr>
                    <a:p>
                      <a:r>
                        <a:rPr b="0" lang="en-US" sz="1800" spc="-1" strike="noStrike">
                          <a:latin typeface="Arial"/>
                        </a:rPr>
                        <a:t>Standard</a:t>
                      </a:r>
                      <a:endParaRPr b="0" lang="en-US" sz="1800" spc="-1" strike="noStrike">
                        <a:latin typeface="Arial"/>
                      </a:endParaRPr>
                    </a:p>
                  </a:txBody>
                  <a:tcPr anchor="t" marL="90000" marR="90000">
                    <a:lnL>
                      <a:noFill/>
                    </a:lnL>
                    <a:lnR>
                      <a:noFill/>
                    </a:lnR>
                    <a:lnT>
                      <a:noFill/>
                    </a:lnT>
                    <a:lnB>
                      <a:noFill/>
                    </a:lnB>
                    <a:solidFill>
                      <a:srgbClr val="729fcf"/>
                    </a:solidFill>
                  </a:tcPr>
                </a:tc>
                <a:tc>
                  <a:txBody>
                    <a:bodyPr lIns="90000" rIns="90000" tIns="45000" bIns="45000" anchor="t">
                      <a:noAutofit/>
                    </a:bodyPr>
                    <a:p>
                      <a:r>
                        <a:rPr b="0" lang="en-US" sz="1800" spc="-1" strike="noStrike">
                          <a:latin typeface="Arial"/>
                        </a:rPr>
                        <a:t>What it adds</a:t>
                      </a:r>
                      <a:endParaRPr b="0" lang="en-US" sz="1800" spc="-1" strike="noStrike">
                        <a:latin typeface="Arial"/>
                      </a:endParaRPr>
                    </a:p>
                  </a:txBody>
                  <a:tcPr anchor="t" marL="90000" marR="90000">
                    <a:lnL>
                      <a:noFill/>
                    </a:lnL>
                    <a:lnR>
                      <a:noFill/>
                    </a:lnR>
                    <a:lnT>
                      <a:noFill/>
                    </a:lnT>
                    <a:lnB>
                      <a:noFill/>
                    </a:lnB>
                    <a:solidFill>
                      <a:srgbClr val="729fcf"/>
                    </a:solidFill>
                  </a:tcPr>
                </a:tc>
              </a:tr>
              <a:tr h="612000">
                <a:tc>
                  <a:txBody>
                    <a:bodyPr lIns="90000" rIns="90000" tIns="45000" bIns="45000" anchor="t">
                      <a:noAutofit/>
                    </a:bodyPr>
                    <a:p>
                      <a:r>
                        <a:rPr b="0" lang="en-US" sz="1800" spc="-1" strike="noStrike">
                          <a:latin typeface="Arial"/>
                        </a:rPr>
                        <a:t>HIP-1</a:t>
                      </a:r>
                      <a:endParaRPr b="0" lang="en-US" sz="1800" spc="-1" strike="noStrike">
                        <a:latin typeface="Arial"/>
                      </a:endParaRPr>
                    </a:p>
                  </a:txBody>
                  <a:tcPr anchor="t" marL="90000" marR="90000">
                    <a:lnL>
                      <a:noFill/>
                    </a:lnL>
                    <a:lnR>
                      <a:noFill/>
                    </a:lnR>
                    <a:lnT>
                      <a:noFill/>
                    </a:lnT>
                    <a:lnB>
                      <a:noFill/>
                    </a:lnB>
                    <a:solidFill>
                      <a:srgbClr val="729fcf"/>
                    </a:solidFill>
                  </a:tcPr>
                </a:tc>
                <a:tc>
                  <a:txBody>
                    <a:bodyPr lIns="90000" rIns="90000" tIns="45000" bIns="45000" anchor="t">
                      <a:noAutofit/>
                    </a:bodyPr>
                    <a:p>
                      <a:r>
                        <a:rPr b="0" lang="en-US" sz="1800" spc="-1" strike="noStrike">
                          <a:latin typeface="Arial"/>
                        </a:rPr>
                        <a:t>Anyone can deploy a token and its spot market (Dutch auction, 500 HYPE floor)</a:t>
                      </a:r>
                      <a:endParaRPr b="0" lang="en-US" sz="1800" spc="-1" strike="noStrike">
                        <a:latin typeface="Arial"/>
                      </a:endParaRPr>
                    </a:p>
                  </a:txBody>
                  <a:tcPr anchor="t" marL="90000" marR="90000">
                    <a:lnL>
                      <a:noFill/>
                    </a:lnL>
                    <a:lnR>
                      <a:noFill/>
                    </a:lnR>
                    <a:lnT>
                      <a:noFill/>
                    </a:lnT>
                    <a:lnB>
                      <a:noFill/>
                    </a:lnB>
                    <a:solidFill>
                      <a:srgbClr val="729fcf"/>
                    </a:solidFill>
                  </a:tcPr>
                </a:tc>
              </a:tr>
              <a:tr h="612000">
                <a:tc>
                  <a:txBody>
                    <a:bodyPr lIns="90000" rIns="90000" tIns="45000" bIns="45000" anchor="t">
                      <a:noAutofit/>
                    </a:bodyPr>
                    <a:p>
                      <a:r>
                        <a:rPr b="0" lang="en-US" sz="1800" spc="-1" strike="noStrike">
                          <a:latin typeface="Arial"/>
                        </a:rPr>
                        <a:t>HIP-2</a:t>
                      </a:r>
                      <a:endParaRPr b="0" lang="en-US" sz="1800" spc="-1" strike="noStrike">
                        <a:latin typeface="Arial"/>
                      </a:endParaRPr>
                    </a:p>
                  </a:txBody>
                  <a:tcPr anchor="t" marL="90000" marR="90000">
                    <a:lnL>
                      <a:noFill/>
                    </a:lnL>
                    <a:lnR>
                      <a:noFill/>
                    </a:lnR>
                    <a:lnT>
                      <a:noFill/>
                    </a:lnT>
                    <a:lnB>
                      <a:noFill/>
                    </a:lnB>
                    <a:solidFill>
                      <a:srgbClr val="729fcf"/>
                    </a:solidFill>
                  </a:tcPr>
                </a:tc>
                <a:tc>
                  <a:txBody>
                    <a:bodyPr lIns="90000" rIns="90000" tIns="45000" bIns="45000" anchor="t">
                      <a:noAutofit/>
                    </a:bodyPr>
                    <a:p>
                      <a:r>
                        <a:rPr b="0" lang="en-US" sz="1800" spc="-1" strike="noStrike">
                          <a:latin typeface="Arial"/>
                        </a:rPr>
                        <a:t>Hyperliquidity: onchain market making, 0.3% spread refreshed every 3 s</a:t>
                      </a:r>
                      <a:endParaRPr b="0" lang="en-US" sz="1800" spc="-1" strike="noStrike">
                        <a:latin typeface="Arial"/>
                      </a:endParaRPr>
                    </a:p>
                  </a:txBody>
                  <a:tcPr anchor="t" marL="90000" marR="90000">
                    <a:lnL>
                      <a:noFill/>
                    </a:lnL>
                    <a:lnR>
                      <a:noFill/>
                    </a:lnR>
                    <a:lnT>
                      <a:noFill/>
                    </a:lnT>
                    <a:lnB>
                      <a:noFill/>
                    </a:lnB>
                    <a:solidFill>
                      <a:srgbClr val="729fcf"/>
                    </a:solidFill>
                  </a:tcPr>
                </a:tc>
              </a:tr>
              <a:tr h="612000">
                <a:tc>
                  <a:txBody>
                    <a:bodyPr lIns="90000" rIns="90000" tIns="45000" bIns="45000" anchor="t">
                      <a:noAutofit/>
                    </a:bodyPr>
                    <a:p>
                      <a:r>
                        <a:rPr b="0" lang="en-US" sz="1800" spc="-1" strike="noStrike">
                          <a:latin typeface="Arial"/>
                        </a:rPr>
                        <a:t>HIP-3</a:t>
                      </a:r>
                      <a:endParaRPr b="0" lang="en-US" sz="1800" spc="-1" strike="noStrike">
                        <a:latin typeface="Arial"/>
                      </a:endParaRPr>
                    </a:p>
                  </a:txBody>
                  <a:tcPr anchor="t" marL="90000" marR="90000">
                    <a:lnL>
                      <a:noFill/>
                    </a:lnL>
                    <a:lnR>
                      <a:noFill/>
                    </a:lnR>
                    <a:lnT>
                      <a:noFill/>
                    </a:lnT>
                    <a:lnB>
                      <a:noFill/>
                    </a:lnB>
                    <a:solidFill>
                      <a:srgbClr val="729fcf"/>
                    </a:solidFill>
                  </a:tcPr>
                </a:tc>
                <a:tc>
                  <a:txBody>
                    <a:bodyPr lIns="90000" rIns="90000" tIns="45000" bIns="45000" anchor="t">
                      <a:noAutofit/>
                    </a:bodyPr>
                    <a:p>
                      <a:r>
                        <a:rPr b="0" lang="en-US" sz="1800" spc="-1" strike="noStrike">
                          <a:latin typeface="Arial"/>
                        </a:rPr>
                        <a:t>Anyone can run a perp exchange; the deployer publishes the oracle, 500 000 HYPE staked</a:t>
                      </a:r>
                      <a:endParaRPr b="0" lang="en-US" sz="1800" spc="-1" strike="noStrike">
                        <a:latin typeface="Arial"/>
                      </a:endParaRPr>
                    </a:p>
                  </a:txBody>
                  <a:tcPr anchor="t" marL="90000" marR="90000">
                    <a:lnL>
                      <a:noFill/>
                    </a:lnL>
                    <a:lnR>
                      <a:noFill/>
                    </a:lnR>
                    <a:lnT>
                      <a:noFill/>
                    </a:lnT>
                    <a:lnB>
                      <a:noFill/>
                    </a:lnB>
                    <a:solidFill>
                      <a:srgbClr val="729fcf"/>
                    </a:solidFill>
                  </a:tcPr>
                </a:tc>
              </a:tr>
              <a:tr h="612000">
                <a:tc>
                  <a:txBody>
                    <a:bodyPr lIns="90000" rIns="90000" tIns="45000" bIns="45000" anchor="t">
                      <a:noAutofit/>
                    </a:bodyPr>
                    <a:p>
                      <a:r>
                        <a:rPr b="0" lang="en-US" sz="1800" spc="-1" strike="noStrike">
                          <a:latin typeface="Arial"/>
                        </a:rPr>
                        <a:t>HIP-4</a:t>
                      </a:r>
                      <a:endParaRPr b="0" lang="en-US" sz="1800" spc="-1" strike="noStrike">
                        <a:latin typeface="Arial"/>
                      </a:endParaRPr>
                    </a:p>
                  </a:txBody>
                  <a:tcPr anchor="t" marL="90000" marR="90000">
                    <a:lnL>
                      <a:noFill/>
                    </a:lnL>
                    <a:lnR>
                      <a:noFill/>
                    </a:lnR>
                    <a:lnT>
                      <a:noFill/>
                    </a:lnT>
                    <a:lnB>
                      <a:noFill/>
                    </a:lnB>
                    <a:solidFill>
                      <a:srgbClr val="729fcf"/>
                    </a:solidFill>
                  </a:tcPr>
                </a:tc>
                <a:tc>
                  <a:txBody>
                    <a:bodyPr lIns="90000" rIns="90000" tIns="45000" bIns="45000" anchor="t">
                      <a:noAutofit/>
                    </a:bodyPr>
                    <a:p>
                      <a:r>
                        <a:rPr b="0" lang="en-US" sz="1800" spc="-1" strike="noStrike">
                          <a:latin typeface="Arial"/>
                        </a:rPr>
                        <a:t>Fully collateralised outcome markets, no leverage, e.g. prediction markets</a:t>
                      </a:r>
                      <a:endParaRPr b="0" lang="en-US" sz="1800" spc="-1" strike="noStrike">
                        <a:latin typeface="Arial"/>
                      </a:endParaRPr>
                    </a:p>
                  </a:txBody>
                  <a:tcPr anchor="t" marL="90000" marR="90000">
                    <a:lnL>
                      <a:noFill/>
                    </a:lnL>
                    <a:lnR>
                      <a:noFill/>
                    </a:lnR>
                    <a:lnT>
                      <a:noFill/>
                    </a:lnT>
                    <a:lnB>
                      <a:noFill/>
                    </a:lnB>
                    <a:solidFill>
                      <a:srgbClr val="729fcf"/>
                    </a:solidFill>
                  </a:tcPr>
                </a:tc>
              </a:tr>
            </a:tbl>
          </a:graphicData>
        </a:graphic>
      </p:graphicFrame>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 name="PlaceHolder 1"/>
          <p:cNvSpPr>
            <a:spLocks noGrp="1"/>
          </p:cNvSpPr>
          <p:nvPr>
            <p:ph type="title"/>
          </p:nvPr>
        </p:nvSpPr>
        <p:spPr>
          <a:xfrm>
            <a:off x="504000" y="226080"/>
            <a:ext cx="9071640" cy="946440"/>
          </a:xfrm>
          <a:prstGeom prst="rect">
            <a:avLst/>
          </a:prstGeom>
          <a:noFill/>
          <a:ln w="0">
            <a:noFill/>
          </a:ln>
        </p:spPr>
        <p:txBody>
          <a:bodyPr lIns="0" rIns="0" tIns="0" bIns="0" anchor="ctr">
            <a:noAutofit/>
          </a:bodyPr>
          <a:p>
            <a:pPr algn="ctr">
              <a:buNone/>
            </a:pPr>
            <a:r>
              <a:rPr b="0" lang="en-US" sz="4400" spc="-1" strike="noStrike">
                <a:solidFill>
                  <a:srgbClr val="1f4e79"/>
                </a:solidFill>
                <a:latin typeface="Arial"/>
              </a:rPr>
              <a:t>Where the fees go</a:t>
            </a:r>
            <a:endParaRPr b="0" lang="en-US" sz="4400" spc="-1" strike="noStrike">
              <a:latin typeface="Arial"/>
            </a:endParaRPr>
          </a:p>
        </p:txBody>
      </p:sp>
      <p:pic>
        <p:nvPicPr>
          <p:cNvPr id="73" name="Image9" descr="slide-09"/>
          <p:cNvPicPr/>
          <p:nvPr/>
        </p:nvPicPr>
        <p:blipFill>
          <a:blip r:embed="rId1"/>
          <a:stretch/>
        </p:blipFill>
        <p:spPr>
          <a:xfrm>
            <a:off x="5526000" y="1449000"/>
            <a:ext cx="4050000" cy="3780000"/>
          </a:xfrm>
          <a:prstGeom prst="rect">
            <a:avLst/>
          </a:prstGeom>
          <a:ln w="0">
            <a:noFill/>
          </a:ln>
        </p:spPr>
      </p:pic>
      <p:sp>
        <p:nvSpPr>
          <p:cNvPr id="74" name="Caption9"/>
          <p:cNvSpPr txBox="1"/>
          <p:nvPr/>
        </p:nvSpPr>
        <p:spPr>
          <a:xfrm>
            <a:off x="504000" y="1296000"/>
            <a:ext cx="4733640" cy="4086000"/>
          </a:xfrm>
          <a:prstGeom prst="rect">
            <a:avLst/>
          </a:prstGeom>
          <a:noFill/>
          <a:ln w="0">
            <a:noFill/>
          </a:ln>
        </p:spPr>
        <p:txBody>
          <a:bodyPr lIns="90000" rIns="90000" tIns="45000" bIns="45000" anchor="t">
            <a:noAutofit/>
          </a:bodyPr>
          <a:p>
            <a:r>
              <a:rPr b="0" lang="en-US" sz="2000" spc="-1" strike="noStrike">
                <a:solidFill>
                  <a:srgbClr val="222222"/>
                </a:solidFill>
                <a:latin typeface="Arial"/>
              </a:rPr>
              <a:t>• </a:t>
            </a:r>
            <a:r>
              <a:rPr b="0" lang="en-US" sz="2000" spc="-1" strike="noStrike">
                <a:solidFill>
                  <a:srgbClr val="222222"/>
                </a:solidFill>
                <a:latin typeface="Arial"/>
              </a:rPr>
              <a:t>Base perp fees: 0.045% taker, 0.015% maker</a:t>
            </a:r>
            <a:endParaRPr b="0" lang="en-US" sz="2000" spc="-1" strike="noStrike">
              <a:latin typeface="Arial"/>
            </a:endParaRPr>
          </a:p>
          <a:p>
            <a:r>
              <a:rPr b="0" lang="en-US" sz="2000" spc="-1" strike="noStrike">
                <a:solidFill>
                  <a:srgbClr val="222222"/>
                </a:solidFill>
                <a:latin typeface="Arial"/>
              </a:rPr>
              <a:t>• </a:t>
            </a:r>
            <a:r>
              <a:rPr b="0" lang="en-US" sz="2000" spc="-1" strike="noStrike">
                <a:solidFill>
                  <a:srgbClr val="222222"/>
                </a:solidFill>
                <a:latin typeface="Arial"/>
              </a:rPr>
              <a:t>Staking HYPE: up to 40% off</a:t>
            </a:r>
            <a:endParaRPr b="0" lang="en-US" sz="2000" spc="-1" strike="noStrike">
              <a:latin typeface="Arial"/>
            </a:endParaRPr>
          </a:p>
          <a:p>
            <a:r>
              <a:rPr b="0" lang="en-US" sz="2000" spc="-1" strike="noStrike">
                <a:solidFill>
                  <a:srgbClr val="222222"/>
                </a:solidFill>
                <a:latin typeface="Arial"/>
              </a:rPr>
              <a:t>• </a:t>
            </a:r>
            <a:r>
              <a:rPr b="0" lang="en-US" sz="2000" spc="-1" strike="noStrike">
                <a:solidFill>
                  <a:srgbClr val="222222"/>
                </a:solidFill>
                <a:latin typeface="Arial"/>
              </a:rPr>
              <a:t>No operator cut; HLP also runs backstop liquidations</a:t>
            </a:r>
            <a:endParaRPr b="0" lang="en-US" sz="2000" spc="-1" strike="noStrike">
              <a:latin typeface="Arial"/>
            </a:endParaRPr>
          </a:p>
          <a:p>
            <a:r>
              <a:rPr b="0" lang="en-US" sz="2000" spc="-1" strike="noStrike">
                <a:solidFill>
                  <a:srgbClr val="222222"/>
                </a:solidFill>
                <a:latin typeface="Arial"/>
              </a:rPr>
              <a:t>• </a:t>
            </a:r>
            <a:r>
              <a:rPr b="0" lang="en-US" sz="2000" spc="-1" strike="noStrike">
                <a:solidFill>
                  <a:srgbClr val="222222"/>
                </a:solidFill>
                <a:latin typeface="Arial"/>
              </a:rPr>
              <a:t>Staking rewards: ~2.37%/year at 400M HYPE staked</a:t>
            </a:r>
            <a:endParaRPr b="0" lang="en-US" sz="2000" spc="-1" strike="noStrike">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5" name="PlaceHolder 1"/>
          <p:cNvSpPr>
            <a:spLocks noGrp="1"/>
          </p:cNvSpPr>
          <p:nvPr>
            <p:ph type="title"/>
          </p:nvPr>
        </p:nvSpPr>
        <p:spPr>
          <a:xfrm>
            <a:off x="504000" y="226080"/>
            <a:ext cx="9071640" cy="946440"/>
          </a:xfrm>
          <a:prstGeom prst="rect">
            <a:avLst/>
          </a:prstGeom>
          <a:noFill/>
          <a:ln w="0">
            <a:noFill/>
          </a:ln>
        </p:spPr>
        <p:txBody>
          <a:bodyPr lIns="0" rIns="0" tIns="0" bIns="0" anchor="ctr">
            <a:noAutofit/>
          </a:bodyPr>
          <a:p>
            <a:pPr algn="ctr">
              <a:buNone/>
            </a:pPr>
            <a:r>
              <a:rPr b="0" lang="en-US" sz="4400" spc="-1" strike="noStrike">
                <a:solidFill>
                  <a:srgbClr val="1f4e79"/>
                </a:solidFill>
                <a:latin typeface="Arial"/>
              </a:rPr>
              <a:t>Limitations</a:t>
            </a:r>
            <a:endParaRPr b="0" lang="en-US" sz="4400" spc="-1" strike="noStrike">
              <a:latin typeface="Arial"/>
            </a:endParaRPr>
          </a:p>
        </p:txBody>
      </p:sp>
      <p:graphicFrame>
        <p:nvGraphicFramePr>
          <p:cNvPr id="76" name="Table10"/>
          <p:cNvGraphicFramePr/>
          <p:nvPr/>
        </p:nvGraphicFramePr>
        <p:xfrm>
          <a:off x="504000" y="1296000"/>
          <a:ext cx="9071640" cy="3779640"/>
        </p:xfrm>
        <a:graphic>
          <a:graphicData uri="http://schemas.openxmlformats.org/drawingml/2006/table">
            <a:tbl>
              <a:tblPr/>
              <a:tblGrid>
                <a:gridCol w="4536000"/>
                <a:gridCol w="4536000"/>
              </a:tblGrid>
              <a:tr h="630000">
                <a:tc>
                  <a:txBody>
                    <a:bodyPr lIns="90000" rIns="90000" tIns="45000" bIns="45000" anchor="t">
                      <a:noAutofit/>
                    </a:bodyPr>
                    <a:p>
                      <a:r>
                        <a:rPr b="0" lang="en-US" sz="1800" spc="-1" strike="noStrike">
                          <a:latin typeface="Arial"/>
                        </a:rPr>
                        <a:t>Limitation (by design)</a:t>
                      </a:r>
                      <a:endParaRPr b="0" lang="en-US" sz="1800" spc="-1" strike="noStrike">
                        <a:latin typeface="Arial"/>
                      </a:endParaRPr>
                    </a:p>
                  </a:txBody>
                  <a:tcPr anchor="t" marL="90000" marR="90000">
                    <a:lnL>
                      <a:noFill/>
                    </a:lnL>
                    <a:lnR>
                      <a:noFill/>
                    </a:lnR>
                    <a:lnT>
                      <a:noFill/>
                    </a:lnT>
                    <a:lnB>
                      <a:noFill/>
                    </a:lnB>
                    <a:solidFill>
                      <a:srgbClr val="729fcf"/>
                    </a:solidFill>
                  </a:tcPr>
                </a:tc>
                <a:tc>
                  <a:txBody>
                    <a:bodyPr lIns="90000" rIns="90000" tIns="45000" bIns="45000" anchor="t">
                      <a:noAutofit/>
                    </a:bodyPr>
                    <a:p>
                      <a:r>
                        <a:rPr b="0" lang="en-US" sz="1800" spc="-1" strike="noStrike">
                          <a:latin typeface="Arial"/>
                        </a:rPr>
                        <a:t>What it means for a user</a:t>
                      </a:r>
                      <a:endParaRPr b="0" lang="en-US" sz="1800" spc="-1" strike="noStrike">
                        <a:latin typeface="Arial"/>
                      </a:endParaRPr>
                    </a:p>
                  </a:txBody>
                  <a:tcPr anchor="t" marL="90000" marR="90000">
                    <a:lnL>
                      <a:noFill/>
                    </a:lnL>
                    <a:lnR>
                      <a:noFill/>
                    </a:lnR>
                    <a:lnT>
                      <a:noFill/>
                    </a:lnT>
                    <a:lnB>
                      <a:noFill/>
                    </a:lnB>
                    <a:solidFill>
                      <a:srgbClr val="729fcf"/>
                    </a:solidFill>
                  </a:tcPr>
                </a:tc>
              </a:tr>
              <a:tr h="630000">
                <a:tc>
                  <a:txBody>
                    <a:bodyPr lIns="90000" rIns="90000" tIns="45000" bIns="45000" anchor="t">
                      <a:noAutofit/>
                    </a:bodyPr>
                    <a:p>
                      <a:r>
                        <a:rPr b="0" lang="en-US" sz="1800" spc="-1" strike="noStrike">
                          <a:latin typeface="Arial"/>
                        </a:rPr>
                        <a:t>2/3 of the stake can change any state</a:t>
                      </a:r>
                      <a:endParaRPr b="0" lang="en-US" sz="1800" spc="-1" strike="noStrike">
                        <a:latin typeface="Arial"/>
                      </a:endParaRPr>
                    </a:p>
                  </a:txBody>
                  <a:tcPr anchor="t" marL="90000" marR="90000">
                    <a:lnL>
                      <a:noFill/>
                    </a:lnL>
                    <a:lnR>
                      <a:noFill/>
                    </a:lnR>
                    <a:lnT>
                      <a:noFill/>
                    </a:lnT>
                    <a:lnB>
                      <a:noFill/>
                    </a:lnB>
                    <a:solidFill>
                      <a:srgbClr val="729fcf"/>
                    </a:solidFill>
                  </a:tcPr>
                </a:tc>
                <a:tc>
                  <a:txBody>
                    <a:bodyPr lIns="90000" rIns="90000" tIns="45000" bIns="45000" anchor="t">
                      <a:noAutofit/>
                    </a:bodyPr>
                    <a:p>
                      <a:r>
                        <a:rPr b="0" lang="en-US" sz="1800" spc="-1" strike="noStrike">
                          <a:latin typeface="Arial"/>
                        </a:rPr>
                        <a:t>Order book, oracle and votes share one trust assumption</a:t>
                      </a:r>
                      <a:endParaRPr b="0" lang="en-US" sz="1800" spc="-1" strike="noStrike">
                        <a:latin typeface="Arial"/>
                      </a:endParaRPr>
                    </a:p>
                  </a:txBody>
                  <a:tcPr anchor="t" marL="90000" marR="90000">
                    <a:lnL>
                      <a:noFill/>
                    </a:lnL>
                    <a:lnR>
                      <a:noFill/>
                    </a:lnR>
                    <a:lnT>
                      <a:noFill/>
                    </a:lnT>
                    <a:lnB>
                      <a:noFill/>
                    </a:lnB>
                    <a:solidFill>
                      <a:srgbClr val="729fcf"/>
                    </a:solidFill>
                  </a:tcPr>
                </a:tc>
              </a:tr>
              <a:tr h="630000">
                <a:tc>
                  <a:txBody>
                    <a:bodyPr lIns="90000" rIns="90000" tIns="45000" bIns="45000" anchor="t">
                      <a:noAutofit/>
                    </a:bodyPr>
                    <a:p>
                      <a:r>
                        <a:rPr b="0" lang="en-US" sz="1800" spc="-1" strike="noStrike">
                          <a:latin typeface="Arial"/>
                        </a:rPr>
                        <a:t>Validator votes decide offchain questions</a:t>
                      </a:r>
                      <a:endParaRPr b="0" lang="en-US" sz="1800" spc="-1" strike="noStrike">
                        <a:latin typeface="Arial"/>
                      </a:endParaRPr>
                    </a:p>
                  </a:txBody>
                  <a:tcPr anchor="t" marL="90000" marR="90000">
                    <a:lnL>
                      <a:noFill/>
                    </a:lnL>
                    <a:lnR>
                      <a:noFill/>
                    </a:lnR>
                    <a:lnT>
                      <a:noFill/>
                    </a:lnT>
                    <a:lnB>
                      <a:noFill/>
                    </a:lnB>
                    <a:solidFill>
                      <a:srgbClr val="729fcf"/>
                    </a:solidFill>
                  </a:tcPr>
                </a:tc>
                <a:tc>
                  <a:txBody>
                    <a:bodyPr lIns="90000" rIns="90000" tIns="45000" bIns="45000" anchor="t">
                      <a:noAutofit/>
                    </a:bodyPr>
                    <a:p>
                      <a:r>
                        <a:rPr b="0" lang="en-US" sz="1800" spc="-1" strike="noStrike">
                          <a:latin typeface="Arial"/>
                        </a:rPr>
                        <a:t>Delistings, HIP-3 slashing, quote assets: judgement by stake</a:t>
                      </a:r>
                      <a:endParaRPr b="0" lang="en-US" sz="1800" spc="-1" strike="noStrike">
                        <a:latin typeface="Arial"/>
                      </a:endParaRPr>
                    </a:p>
                  </a:txBody>
                  <a:tcPr anchor="t" marL="90000" marR="90000">
                    <a:lnL>
                      <a:noFill/>
                    </a:lnL>
                    <a:lnR>
                      <a:noFill/>
                    </a:lnR>
                    <a:lnT>
                      <a:noFill/>
                    </a:lnT>
                    <a:lnB>
                      <a:noFill/>
                    </a:lnB>
                    <a:solidFill>
                      <a:srgbClr val="729fcf"/>
                    </a:solidFill>
                  </a:tcPr>
                </a:tc>
              </a:tr>
              <a:tr h="630000">
                <a:tc>
                  <a:txBody>
                    <a:bodyPr lIns="90000" rIns="90000" tIns="45000" bIns="45000" anchor="t">
                      <a:noAutofit/>
                    </a:bodyPr>
                    <a:p>
                      <a:r>
                        <a:rPr b="0" lang="en-US" sz="1800" spc="-1" strike="noStrike">
                          <a:latin typeface="Arial"/>
                        </a:rPr>
                        <a:t>HIP-3 oracle is one deployer</a:t>
                      </a:r>
                      <a:endParaRPr b="0" lang="en-US" sz="1800" spc="-1" strike="noStrike">
                        <a:latin typeface="Arial"/>
                      </a:endParaRPr>
                    </a:p>
                  </a:txBody>
                  <a:tcPr anchor="t" marL="90000" marR="90000">
                    <a:lnL>
                      <a:noFill/>
                    </a:lnL>
                    <a:lnR>
                      <a:noFill/>
                    </a:lnR>
                    <a:lnT>
                      <a:noFill/>
                    </a:lnT>
                    <a:lnB>
                      <a:noFill/>
                    </a:lnB>
                    <a:solidFill>
                      <a:srgbClr val="729fcf"/>
                    </a:solidFill>
                  </a:tcPr>
                </a:tc>
                <a:tc>
                  <a:txBody>
                    <a:bodyPr lIns="90000" rIns="90000" tIns="45000" bIns="45000" anchor="t">
                      <a:noAutofit/>
                    </a:bodyPr>
                    <a:p>
                      <a:r>
                        <a:rPr b="0" lang="en-US" sz="1800" spc="-1" strike="noStrike">
                          <a:latin typeface="Arial"/>
                        </a:rPr>
                        <a:t>Slashed stake is burned; users are not compensated</a:t>
                      </a:r>
                      <a:endParaRPr b="0" lang="en-US" sz="1800" spc="-1" strike="noStrike">
                        <a:latin typeface="Arial"/>
                      </a:endParaRPr>
                    </a:p>
                  </a:txBody>
                  <a:tcPr anchor="t" marL="90000" marR="90000">
                    <a:lnL>
                      <a:noFill/>
                    </a:lnL>
                    <a:lnR>
                      <a:noFill/>
                    </a:lnR>
                    <a:lnT>
                      <a:noFill/>
                    </a:lnT>
                    <a:lnB>
                      <a:noFill/>
                    </a:lnB>
                    <a:solidFill>
                      <a:srgbClr val="729fcf"/>
                    </a:solidFill>
                  </a:tcPr>
                </a:tc>
              </a:tr>
              <a:tr h="630000">
                <a:tc>
                  <a:txBody>
                    <a:bodyPr lIns="90000" rIns="90000" tIns="45000" bIns="45000" anchor="t">
                      <a:noAutofit/>
                    </a:bodyPr>
                    <a:p>
                      <a:r>
                        <a:rPr b="0" lang="en-US" sz="1800" spc="-1" strike="noStrike">
                          <a:latin typeface="Arial"/>
                        </a:rPr>
                        <a:t>HyperEVM token links are not verified</a:t>
                      </a:r>
                      <a:endParaRPr b="0" lang="en-US" sz="1800" spc="-1" strike="noStrike">
                        <a:latin typeface="Arial"/>
                      </a:endParaRPr>
                    </a:p>
                  </a:txBody>
                  <a:tcPr anchor="t" marL="90000" marR="90000">
                    <a:lnL>
                      <a:noFill/>
                    </a:lnL>
                    <a:lnR>
                      <a:noFill/>
                    </a:lnR>
                    <a:lnT>
                      <a:noFill/>
                    </a:lnT>
                    <a:lnB>
                      <a:noFill/>
                    </a:lnB>
                    <a:solidFill>
                      <a:srgbClr val="729fcf"/>
                    </a:solidFill>
                  </a:tcPr>
                </a:tc>
                <a:tc>
                  <a:txBody>
                    <a:bodyPr lIns="90000" rIns="90000" tIns="45000" bIns="45000" anchor="t">
                      <a:noAutofit/>
                    </a:bodyPr>
                    <a:p>
                      <a:r>
                        <a:rPr b="0" lang="en-US" sz="1800" spc="-1" strike="noStrike">
                          <a:latin typeface="Arial"/>
                        </a:rPr>
                        <a:t>A linked contract can hold arbitrary code</a:t>
                      </a:r>
                      <a:endParaRPr b="0" lang="en-US" sz="1800" spc="-1" strike="noStrike">
                        <a:latin typeface="Arial"/>
                      </a:endParaRPr>
                    </a:p>
                  </a:txBody>
                  <a:tcPr anchor="t" marL="90000" marR="90000">
                    <a:lnL>
                      <a:noFill/>
                    </a:lnL>
                    <a:lnR>
                      <a:noFill/>
                    </a:lnR>
                    <a:lnT>
                      <a:noFill/>
                    </a:lnT>
                    <a:lnB>
                      <a:noFill/>
                    </a:lnB>
                    <a:solidFill>
                      <a:srgbClr val="729fcf"/>
                    </a:solidFill>
                  </a:tcPr>
                </a:tc>
              </a:tr>
              <a:tr h="630000">
                <a:tc>
                  <a:txBody>
                    <a:bodyPr lIns="90000" rIns="90000" tIns="45000" bIns="45000" anchor="t">
                      <a:noAutofit/>
                    </a:bodyPr>
                    <a:p>
                      <a:r>
                        <a:rPr b="0" lang="en-US" sz="1800" spc="-1" strike="noStrike">
                          <a:latin typeface="Arial"/>
                        </a:rPr>
                        <a:t>No automatic slashing of validators</a:t>
                      </a:r>
                      <a:endParaRPr b="0" lang="en-US" sz="1800" spc="-1" strike="noStrike">
                        <a:latin typeface="Arial"/>
                      </a:endParaRPr>
                    </a:p>
                  </a:txBody>
                  <a:tcPr anchor="t" marL="90000" marR="90000">
                    <a:lnL>
                      <a:noFill/>
                    </a:lnL>
                    <a:lnR>
                      <a:noFill/>
                    </a:lnR>
                    <a:lnT>
                      <a:noFill/>
                    </a:lnT>
                    <a:lnB>
                      <a:noFill/>
                    </a:lnB>
                    <a:solidFill>
                      <a:srgbClr val="729fcf"/>
                    </a:solidFill>
                  </a:tcPr>
                </a:tc>
                <a:tc>
                  <a:txBody>
                    <a:bodyPr lIns="90000" rIns="90000" tIns="45000" bIns="45000" anchor="t">
                      <a:noAutofit/>
                    </a:bodyPr>
                    <a:p>
                      <a:r>
                        <a:rPr b="0" lang="en-US" sz="1800" spc="-1" strike="noStrike">
                          <a:latin typeface="Arial"/>
                        </a:rPr>
                        <a:t>Misbehaving validators are jailed by vote</a:t>
                      </a:r>
                      <a:endParaRPr b="0" lang="en-US" sz="1800" spc="-1" strike="noStrike">
                        <a:latin typeface="Arial"/>
                      </a:endParaRPr>
                    </a:p>
                  </a:txBody>
                  <a:tcPr anchor="t" marL="90000" marR="90000">
                    <a:lnL>
                      <a:noFill/>
                    </a:lnL>
                    <a:lnR>
                      <a:noFill/>
                    </a:lnR>
                    <a:lnT>
                      <a:noFill/>
                    </a:lnT>
                    <a:lnB>
                      <a:noFill/>
                    </a:lnB>
                    <a:solidFill>
                      <a:srgbClr val="729fcf"/>
                    </a:solidFill>
                  </a:tcPr>
                </a:tc>
              </a:tr>
            </a:tbl>
          </a:graphicData>
        </a:graphic>
      </p:graphicFrame>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7" name="PlaceHolder 1"/>
          <p:cNvSpPr>
            <a:spLocks noGrp="1"/>
          </p:cNvSpPr>
          <p:nvPr>
            <p:ph type="title"/>
          </p:nvPr>
        </p:nvSpPr>
        <p:spPr>
          <a:xfrm>
            <a:off x="504000" y="226080"/>
            <a:ext cx="9071640" cy="946440"/>
          </a:xfrm>
          <a:prstGeom prst="rect">
            <a:avLst/>
          </a:prstGeom>
          <a:noFill/>
          <a:ln w="0">
            <a:noFill/>
          </a:ln>
        </p:spPr>
        <p:txBody>
          <a:bodyPr lIns="0" rIns="0" tIns="0" bIns="0" anchor="ctr">
            <a:noAutofit/>
          </a:bodyPr>
          <a:p>
            <a:pPr algn="ctr">
              <a:buNone/>
            </a:pPr>
            <a:r>
              <a:rPr b="0" lang="en-US" sz="4400" spc="-1" strike="noStrike">
                <a:solidFill>
                  <a:srgbClr val="1f4e79"/>
                </a:solidFill>
                <a:latin typeface="Arial"/>
              </a:rPr>
              <a:t>Conclusion</a:t>
            </a:r>
            <a:endParaRPr b="0" lang="en-US" sz="4400" spc="-1" strike="noStrike">
              <a:latin typeface="Arial"/>
            </a:endParaRPr>
          </a:p>
        </p:txBody>
      </p:sp>
      <p:pic>
        <p:nvPicPr>
          <p:cNvPr id="78" name="Image11" descr="slide-11"/>
          <p:cNvPicPr/>
          <p:nvPr/>
        </p:nvPicPr>
        <p:blipFill>
          <a:blip r:embed="rId1"/>
          <a:stretch/>
        </p:blipFill>
        <p:spPr>
          <a:xfrm>
            <a:off x="504000" y="1296000"/>
            <a:ext cx="9072000" cy="1365480"/>
          </a:xfrm>
          <a:prstGeom prst="rect">
            <a:avLst/>
          </a:prstGeom>
          <a:ln w="0">
            <a:noFill/>
          </a:ln>
        </p:spPr>
      </p:pic>
      <p:sp>
        <p:nvSpPr>
          <p:cNvPr id="79" name="Caption11"/>
          <p:cNvSpPr txBox="1"/>
          <p:nvPr/>
        </p:nvSpPr>
        <p:spPr>
          <a:xfrm>
            <a:off x="504000" y="2841480"/>
            <a:ext cx="9072000" cy="2540160"/>
          </a:xfrm>
          <a:prstGeom prst="rect">
            <a:avLst/>
          </a:prstGeom>
          <a:noFill/>
          <a:ln w="0">
            <a:noFill/>
          </a:ln>
        </p:spPr>
        <p:txBody>
          <a:bodyPr lIns="90000" rIns="90000" tIns="45000" bIns="45000" anchor="t">
            <a:noAutofit/>
          </a:bodyPr>
          <a:p>
            <a:r>
              <a:rPr b="0" lang="en-US" sz="2000" spc="-1" strike="noStrike">
                <a:solidFill>
                  <a:srgbClr val="222222"/>
                </a:solidFill>
                <a:latin typeface="Arial"/>
              </a:rPr>
              <a:t>• </a:t>
            </a:r>
            <a:r>
              <a:rPr b="0" lang="en-US" sz="2000" spc="-1" strike="noStrike">
                <a:solidFill>
                  <a:srgbClr val="222222"/>
                </a:solidFill>
                <a:latin typeface="Arial"/>
              </a:rPr>
              <a:t>On Hyperliquid, the exchange is the chain's state machine</a:t>
            </a:r>
            <a:endParaRPr b="0" lang="en-US" sz="2000" spc="-1" strike="noStrike">
              <a:latin typeface="Arial"/>
            </a:endParaRPr>
          </a:p>
          <a:p>
            <a:r>
              <a:rPr b="0" lang="en-US" sz="2000" spc="-1" strike="noStrike">
                <a:solidFill>
                  <a:srgbClr val="222222"/>
                </a:solidFill>
                <a:latin typeface="Arial"/>
              </a:rPr>
              <a:t>• </a:t>
            </a:r>
            <a:r>
              <a:rPr b="0" lang="en-US" sz="2000" spc="-1" strike="noStrike">
                <a:solidFill>
                  <a:srgbClr val="222222"/>
                </a:solidFill>
                <a:latin typeface="Arial"/>
              </a:rPr>
              <a:t>Cancels before takers, margin checked at each match, fixed liquidation steps</a:t>
            </a:r>
            <a:endParaRPr b="0" lang="en-US" sz="2000" spc="-1" strike="noStrike">
              <a:latin typeface="Arial"/>
            </a:endParaRPr>
          </a:p>
          <a:p>
            <a:r>
              <a:rPr b="0" lang="en-US" sz="2000" spc="-1" strike="noStrike">
                <a:solidFill>
                  <a:srgbClr val="222222"/>
                </a:solidFill>
                <a:latin typeface="Arial"/>
              </a:rPr>
              <a:t>• </a:t>
            </a:r>
            <a:r>
              <a:rPr b="0" lang="en-US" sz="2000" spc="-1" strike="noStrike">
                <a:solidFill>
                  <a:srgbClr val="222222"/>
                </a:solidFill>
                <a:latin typeface="Arial"/>
              </a:rPr>
              <a:t>The cost: one trust assumption, two thirds of the staked HYPE</a:t>
            </a:r>
            <a:endParaRPr b="0" lang="en-US" sz="2000" spc="-1" strike="noStrike">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0</TotalTime>
  <Application>LibreOffice/7.3.7.2$Linux_X86_64 LibreOffice_project/30$Build-2</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2026-10-01T13:53:38Z</dcterms:created>
  <dc:creator/>
  <dc:description/>
  <dc:language>en-US</dc:language>
  <cp:lastModifiedBy/>
  <dcterms:modified xsi:type="dcterms:W3CDTF">2026-10-01T13:53:42Z</dcterms:modified>
  <cp:revision>1</cp:revision>
  <dc:subject/>
  <dc:title/>
</cp:coreProperties>
</file>